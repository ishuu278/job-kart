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16975" y="-2926080"/>
            <a:ext cx="4754880" cy="4754880"/>
          </a:xfrm>
          <a:prstGeom prst="ellipse">
            <a:avLst/>
          </a:prstGeom>
          <a:solidFill>
            <a:srgbClr val="1635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3017520" y="5029200"/>
            <a:ext cx="4389120" cy="4389120"/>
          </a:xfrm>
          <a:prstGeom prst="ellipse">
            <a:avLst/>
          </a:prstGeom>
          <a:solidFill>
            <a:srgbClr val="163566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99855" y="6126480"/>
            <a:ext cx="2743200" cy="2743200"/>
          </a:xfrm>
          <a:prstGeom prst="ellipse">
            <a:avLst/>
          </a:prstGeom>
          <a:solidFill>
            <a:srgbClr val="2563EB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566928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5B9BF5"/>
                </a:solidFill>
                <a:latin typeface="Segoe UI"/>
              </a:rPr>
              <a:t>FULL-STACK PROJECT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6126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>
                <a:solidFill>
                  <a:srgbClr val="FFFFFF"/>
                </a:solidFill>
                <a:latin typeface="Segoe UI"/>
              </a:rPr>
              <a:t>JOB</a:t>
            </a:r>
            <a:r>
              <a:rPr sz="5800" b="1" i="0">
                <a:solidFill>
                  <a:srgbClr val="5B9BF5"/>
                </a:solidFill>
                <a:latin typeface="Segoe UI"/>
              </a:rPr>
              <a:t>·</a:t>
            </a:r>
            <a:r>
              <a:rPr sz="5800" b="1" i="0">
                <a:solidFill>
                  <a:srgbClr val="FFFFFF"/>
                </a:solidFill>
                <a:latin typeface="Segoe UI"/>
              </a:rPr>
              <a:t>KART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029968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1">
                <a:solidFill>
                  <a:srgbClr val="5B9BF5"/>
                </a:solidFill>
                <a:latin typeface="Segoe UI"/>
              </a:rPr>
              <a:t>Empowering Careers, Simplifying Hiring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487168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9D6EE"/>
                </a:solidFill>
                <a:latin typeface="Segoe UI"/>
              </a:rPr>
              <a:t>A full-stack job-portal platform connecting verified talent with India's top employers — built on the MERN-style stack.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" y="3401568"/>
            <a:ext cx="903344" cy="310896"/>
          </a:xfrm>
          <a:prstGeom prst="roundRect">
            <a:avLst>
              <a:gd name="adj" fmla="val 50000"/>
            </a:avLst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50" b="1" i="0">
                <a:solidFill>
                  <a:srgbClr val="BFD3F5"/>
                </a:solidFill>
                <a:latin typeface="Segoe UI"/>
              </a:rPr>
              <a:t>MongoDB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7432" y="3401568"/>
            <a:ext cx="1261206" cy="310896"/>
          </a:xfrm>
          <a:prstGeom prst="roundRect">
            <a:avLst>
              <a:gd name="adj" fmla="val 50000"/>
            </a:avLst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50" b="1" i="0">
                <a:solidFill>
                  <a:srgbClr val="BFD3F5"/>
                </a:solidFill>
                <a:latin typeface="Segoe UI"/>
              </a:rPr>
              <a:t>Express.js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6654" y="3401568"/>
            <a:ext cx="903344" cy="310896"/>
          </a:xfrm>
          <a:prstGeom prst="roundRect">
            <a:avLst>
              <a:gd name="adj" fmla="val 50000"/>
            </a:avLst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50" b="1" i="0">
                <a:solidFill>
                  <a:srgbClr val="BFD3F5"/>
                </a:solidFill>
                <a:latin typeface="Segoe UI"/>
              </a:rPr>
              <a:t>Node.js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8014" y="3401568"/>
            <a:ext cx="974916" cy="310896"/>
          </a:xfrm>
          <a:prstGeom prst="roundRect">
            <a:avLst>
              <a:gd name="adj" fmla="val 50000"/>
            </a:avLst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50" b="1" i="0">
                <a:solidFill>
                  <a:srgbClr val="BFD3F5"/>
                </a:solidFill>
                <a:latin typeface="Segoe UI"/>
              </a:rPr>
              <a:t>JWT Auth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0946" y="3401568"/>
            <a:ext cx="1118061" cy="310896"/>
          </a:xfrm>
          <a:prstGeom prst="roundRect">
            <a:avLst>
              <a:gd name="adj" fmla="val 50000"/>
            </a:avLst>
          </a:prstGeom>
          <a:solidFill>
            <a:srgbClr val="163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50" b="1" i="0">
                <a:solidFill>
                  <a:srgbClr val="BFD3F5"/>
                </a:solidFill>
                <a:latin typeface="Segoe UI"/>
              </a:rPr>
              <a:t>Vanilla JS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" y="30175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8FA6CB"/>
                </a:solidFill>
                <a:latin typeface="Segoe UI"/>
              </a:rPr>
              <a:t>PRESENTED BY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10128"/>
            <a:ext cx="3127248" cy="932688"/>
          </a:xfrm>
          <a:prstGeom prst="roundRect">
            <a:avLst>
              <a:gd name="adj" fmla="val 10000"/>
            </a:avLst>
          </a:prstGeom>
          <a:solidFill>
            <a:srgbClr val="112B55"/>
          </a:solidFill>
          <a:ln w="1270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4944" y="3538728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57600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3474720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Tusar Kumar Mahakud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3858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5B9BF5"/>
                </a:solidFill>
                <a:latin typeface="Segoe UI"/>
              </a:rPr>
              <a:t>Regd No. 2301289131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3310128"/>
            <a:ext cx="3127248" cy="932688"/>
          </a:xfrm>
          <a:prstGeom prst="roundRect">
            <a:avLst>
              <a:gd name="adj" fmla="val 10000"/>
            </a:avLst>
          </a:prstGeom>
          <a:solidFill>
            <a:srgbClr val="112B55"/>
          </a:solidFill>
          <a:ln w="1270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986784" y="3538728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6784" y="3657600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474720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Swadhin Panigrahi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3858768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5B9BF5"/>
                </a:solidFill>
                <a:latin typeface="Segoe UI"/>
              </a:rPr>
              <a:t>Regd No. 2301289125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89120"/>
            <a:ext cx="3127248" cy="932688"/>
          </a:xfrm>
          <a:prstGeom prst="roundRect">
            <a:avLst>
              <a:gd name="adj" fmla="val 10000"/>
            </a:avLst>
          </a:prstGeom>
          <a:solidFill>
            <a:srgbClr val="112B55"/>
          </a:solidFill>
          <a:ln w="1270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94944" y="461772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73659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455371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Tannu Kumari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493776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5B9BF5"/>
                </a:solidFill>
                <a:latin typeface="Segoe UI"/>
              </a:rPr>
              <a:t>Regd No. 2301289130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4389120"/>
            <a:ext cx="3127248" cy="932688"/>
          </a:xfrm>
          <a:prstGeom prst="roundRect">
            <a:avLst>
              <a:gd name="adj" fmla="val 10000"/>
            </a:avLst>
          </a:prstGeom>
          <a:solidFill>
            <a:srgbClr val="112B55"/>
          </a:solidFill>
          <a:ln w="1270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86784" y="461772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86784" y="4736592"/>
            <a:ext cx="475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55371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Subhrakant Senapati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937760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spc="100">
                <a:solidFill>
                  <a:srgbClr val="5B9BF5"/>
                </a:solidFill>
                <a:latin typeface="Segoe UI"/>
              </a:rPr>
              <a:t>Regd No. 2301289122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8FA6CB"/>
                </a:solidFill>
                <a:latin typeface="Segoe UI"/>
              </a:rPr>
              <a:t>Guide: —   ·   Session 2024–26   ·   2026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0" y="594360"/>
            <a:ext cx="4389120" cy="305181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60920" y="640080"/>
            <a:ext cx="4297680" cy="274320"/>
          </a:xfrm>
          <a:prstGeom prst="roundRect">
            <a:avLst>
              <a:gd name="adj" fmla="val 50000"/>
            </a:avLst>
          </a:prstGeom>
          <a:solidFill>
            <a:srgbClr val="E9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3684" y="738836"/>
            <a:ext cx="76808" cy="7680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697420" y="738836"/>
            <a:ext cx="76808" cy="7680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71156" y="738836"/>
            <a:ext cx="76808" cy="7680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92440" y="699516"/>
            <a:ext cx="333756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80" y="690372"/>
            <a:ext cx="3200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B87"/>
                </a:solidFill>
                <a:latin typeface="Segoe UI"/>
              </a:rPr>
              <a:t>job-kart.org</a:t>
            </a:r>
          </a:p>
        </p:txBody>
      </p:sp>
      <p:pic>
        <p:nvPicPr>
          <p:cNvPr id="44" name="Picture 43" descr="01-hom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914400"/>
            <a:ext cx="4297680" cy="26860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10497312" y="3730752"/>
            <a:ext cx="1225296" cy="2502642"/>
          </a:xfrm>
          <a:prstGeom prst="roundRect">
            <a:avLst>
              <a:gd name="adj" fmla="val 12000"/>
            </a:avLst>
          </a:prstGeom>
          <a:solidFill>
            <a:srgbClr val="163566"/>
          </a:solidFill>
          <a:ln w="1524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13-mobile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3794760"/>
            <a:ext cx="1097280" cy="237462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138160" y="47548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9FB4D8"/>
                </a:solidFill>
                <a:latin typeface="Segoe UI"/>
              </a:rPr>
              <a:t>Mobile-first UX 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B9BF5"/>
                </a:solidFill>
                <a:latin typeface="Segoe UI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563EB"/>
                </a:solidFill>
                <a:latin typeface="Segoe UI"/>
              </a:rPr>
              <a:t>01  </a:t>
            </a:r>
            <a:r>
              <a:rPr sz="1200" b="1" i="0" spc="200">
                <a:solidFill>
                  <a:srgbClr val="5A6B87"/>
                </a:solidFill>
                <a:latin typeface="Segoe UI"/>
              </a:rPr>
              <a:t>—  PROBLEM STATEMENT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D33"/>
                </a:solidFill>
                <a:latin typeface="Segoe UI"/>
              </a:rPr>
              <a:t>Hiring is fragmented, opaque and slow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6858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5A6B87"/>
                </a:solidFill>
                <a:latin typeface="Segoe UI"/>
              </a:rPr>
              <a:t>Motivation: students chase scattered postings while recruiters juggle spreadsheets — JOB·KART was built to fix both sides of this broken loop.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31012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82296" cy="20299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947672"/>
            <a:ext cx="2852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563EB"/>
                </a:solidFill>
                <a:latin typeface="Segoe UI"/>
              </a:rPr>
              <a:t>⌖  </a:t>
            </a:r>
            <a:r>
              <a:rPr sz="1450" b="1" i="0">
                <a:solidFill>
                  <a:srgbClr val="0F1D33"/>
                </a:solidFill>
                <a:latin typeface="Segoe UI"/>
              </a:rPr>
              <a:t>Scattered Listings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86584"/>
            <a:ext cx="283464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Openings are spread across dozens of boards and groups — no single, verified source of truth for job seekers.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33088" y="1783080"/>
            <a:ext cx="331012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3088" y="1783080"/>
            <a:ext cx="82296" cy="2029968"/>
          </a:xfrm>
          <a:prstGeom prst="roundRect">
            <a:avLst>
              <a:gd name="adj" fmla="val 50000"/>
            </a:avLst>
          </a:prstGeom>
          <a:solidFill>
            <a:srgbClr val="5B9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947672"/>
            <a:ext cx="2852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B9BF5"/>
                </a:solidFill>
                <a:latin typeface="Segoe UI"/>
              </a:rPr>
              <a:t>?  </a:t>
            </a:r>
            <a:r>
              <a:rPr sz="1450" b="1" i="0">
                <a:solidFill>
                  <a:srgbClr val="0F1D33"/>
                </a:solidFill>
                <a:latin typeface="Segoe UI"/>
              </a:rPr>
              <a:t>Zero 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86584"/>
            <a:ext cx="283464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Candidates apply into a void: no status, no timeline, no feedback loop after clicking apply.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50792"/>
            <a:ext cx="331012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4050792"/>
            <a:ext cx="82296" cy="202996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215384"/>
            <a:ext cx="2852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≡  </a:t>
            </a:r>
            <a:r>
              <a:rPr sz="1450" b="1" i="0">
                <a:solidFill>
                  <a:srgbClr val="0F1D33"/>
                </a:solidFill>
                <a:latin typeface="Segoe UI"/>
              </a:rPr>
              <a:t>Manual Screening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54296"/>
            <a:ext cx="283464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Recruiters drown in unstructured CVs and spreadsheets, tracking who is applied, shortlisted or hired.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33088" y="4050792"/>
            <a:ext cx="331012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33088" y="4050792"/>
            <a:ext cx="82296" cy="202996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215384"/>
            <a:ext cx="2852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0B981"/>
                </a:solidFill>
                <a:latin typeface="Segoe UI"/>
              </a:rPr>
              <a:t>⚑  </a:t>
            </a:r>
            <a:r>
              <a:rPr sz="1450" b="1" i="0">
                <a:solidFill>
                  <a:srgbClr val="0F1D33"/>
                </a:solidFill>
                <a:latin typeface="Segoe UI"/>
              </a:rPr>
              <a:t>Employer Trust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654296"/>
            <a:ext cx="283464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Postings reveal little about companies — no profiles, culture or verified employee reviews to rely 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53528" y="1161288"/>
            <a:ext cx="4160520" cy="290893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99248" y="1207008"/>
            <a:ext cx="4069080" cy="274320"/>
          </a:xfrm>
          <a:prstGeom prst="roundRect">
            <a:avLst>
              <a:gd name="adj" fmla="val 50000"/>
            </a:avLst>
          </a:prstGeom>
          <a:solidFill>
            <a:srgbClr val="E9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62012" y="1305764"/>
            <a:ext cx="76808" cy="7680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5748" y="1305764"/>
            <a:ext cx="76808" cy="7680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09484" y="1305764"/>
            <a:ext cx="76808" cy="7680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430768" y="1266444"/>
            <a:ext cx="310896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22208" y="1257300"/>
            <a:ext cx="2971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B87"/>
                </a:solidFill>
                <a:latin typeface="Segoe UI"/>
              </a:rPr>
              <a:t>job-kart.org</a:t>
            </a:r>
          </a:p>
        </p:txBody>
      </p:sp>
      <p:pic>
        <p:nvPicPr>
          <p:cNvPr id="30" name="Picture 29" descr="04-open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1481328"/>
            <a:ext cx="4069080" cy="254317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406640" y="4262247"/>
            <a:ext cx="4617720" cy="548640"/>
          </a:xfrm>
          <a:prstGeom prst="roundRect">
            <a:avLst>
              <a:gd name="adj" fmla="val 3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4262247"/>
            <a:ext cx="4251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18 live roles · 7 companies · 0 status updates after applying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5048631"/>
            <a:ext cx="4617720" cy="1572768"/>
          </a:xfrm>
          <a:prstGeom prst="roundRect">
            <a:avLst>
              <a:gd name="adj" fmla="val 8000"/>
            </a:avLst>
          </a:prstGeom>
          <a:solidFill>
            <a:srgbClr val="EAF1FE"/>
          </a:solidFill>
          <a:ln w="12700">
            <a:solidFill>
              <a:srgbClr val="C7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62672" y="5194935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1D4ED8"/>
                </a:solidFill>
                <a:latin typeface="Segoe UI"/>
              </a:rPr>
              <a:t>WHY IT MATTERS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2" y="5505831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E5E"/>
                </a:solidFill>
                <a:latin typeface="Segoe UI"/>
              </a:rPr>
              <a:t>India's hiring market serves millions of job-seekers every year — every missing status update and every manual spreadsheet multiplies wasted effort on both sides of the desk.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300">
                <a:solidFill>
                  <a:srgbClr val="0F1D33"/>
                </a:solidFill>
                <a:latin typeface="Segoe UI"/>
              </a:rPr>
              <a:t>JOB</a:t>
            </a:r>
            <a:r>
              <a:rPr sz="1000" b="1" i="0">
                <a:solidFill>
                  <a:srgbClr val="5B9BF5"/>
                </a:solidFill>
                <a:latin typeface="Segoe UI"/>
              </a:rPr>
              <a:t>·</a:t>
            </a:r>
            <a:r>
              <a:rPr sz="1000" b="1" i="0" spc="300">
                <a:solidFill>
                  <a:srgbClr val="0F1D33"/>
                </a:solidFill>
                <a:latin typeface="Segoe UI"/>
              </a:rPr>
              <a:t>KART</a:t>
            </a:r>
            <a:r>
              <a:rPr sz="900" b="0" i="1">
                <a:solidFill>
                  <a:srgbClr val="5A6B87"/>
                </a:solidFill>
                <a:latin typeface="Segoe UI"/>
              </a:rPr>
              <a:t>   |   Empowering Careers, Simplifying Hiring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A6B87"/>
                </a:solidFill>
                <a:latin typeface="Segoe UI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63679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563EB"/>
                </a:solidFill>
                <a:latin typeface="Segoe UI"/>
              </a:rPr>
              <a:t>02  </a:t>
            </a:r>
            <a:r>
              <a:rPr sz="1200" b="1" i="0" spc="200">
                <a:solidFill>
                  <a:srgbClr val="5A6B87"/>
                </a:solidFill>
                <a:latin typeface="Segoe UI"/>
              </a:rPr>
              <a:t>— 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D33"/>
                </a:solidFill>
                <a:latin typeface="Segoe UI"/>
              </a:rPr>
              <a:t>What the project set out to achieve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92224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755648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Unified verified marketplace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139696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One trusted platform aggregating verified openings from real companies.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72768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1792224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5B9BF5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755648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Transparent application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39696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A real-time status pipeline — Applied → Under Review → Selected — for every candidate.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45536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364992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59E0B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28416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Efficient hiring workflow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12464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Visual pipeline and screening tools that replace manual spreadsheet tracking for recruiters.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145536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3364992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0B981"/>
                </a:solidFill>
                <a:latin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328416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Insightful 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712464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Live analytics charts for applications, hiring status and per-job performance.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18304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4937760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7C3AED"/>
                </a:solidFill>
                <a:latin typeface="Segoe U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01184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Secure role-based access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285232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JWT authentication with candidate/recruiter separation and hashed credentials.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718304"/>
            <a:ext cx="5504688" cy="1371600"/>
          </a:xfrm>
          <a:prstGeom prst="roundRect">
            <a:avLst>
              <a:gd name="adj" fmla="val 10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937760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E749C"/>
                </a:solidFill>
                <a:latin typeface="Segoe U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901184"/>
            <a:ext cx="4315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F1D33"/>
                </a:solidFill>
                <a:latin typeface="Segoe UI"/>
              </a:rPr>
              <a:t>Lightweight responsive UX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285232"/>
            <a:ext cx="431596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A6B87"/>
                </a:solidFill>
                <a:latin typeface="Segoe UI"/>
              </a:rPr>
              <a:t>Framework-free, mobile-first interface with dark mode and zero build step.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F1D33"/>
                </a:solidFill>
                <a:latin typeface="Segoe UI"/>
              </a:rPr>
              <a:t>Scope: </a:t>
            </a:r>
            <a:r>
              <a:rPr sz="1100" b="0" i="0">
                <a:solidFill>
                  <a:srgbClr val="5A6B87"/>
                </a:solidFill>
                <a:latin typeface="Segoe UI"/>
              </a:rPr>
              <a:t>full-stack web application — REST API + responsive frontend + cloud database, deployable on Vercel.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A6B87"/>
                </a:solidFill>
                <a:latin typeface="Segoe UI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563EB"/>
                </a:solidFill>
                <a:latin typeface="Segoe UI"/>
              </a:rPr>
              <a:t>03  </a:t>
            </a:r>
            <a:r>
              <a:rPr sz="1200" b="1" i="0" spc="200">
                <a:solidFill>
                  <a:srgbClr val="5A6B87"/>
                </a:solidFill>
                <a:latin typeface="Segoe UI"/>
              </a:rPr>
              <a:t>—  PROJECT FUNCTIONALITIES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D33"/>
                </a:solidFill>
                <a:latin typeface="Segoe UI"/>
              </a:rPr>
              <a:t>Key functionalities — one platform, two journeys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32120" cy="2304288"/>
          </a:xfrm>
          <a:prstGeom prst="roundRect">
            <a:avLst>
              <a:gd name="adj" fmla="val 5500"/>
            </a:avLst>
          </a:prstGeom>
          <a:solidFill>
            <a:srgbClr val="EAF1FE"/>
          </a:solidFill>
          <a:ln w="12700">
            <a:solidFill>
              <a:srgbClr val="C7DA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99616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2563EB"/>
                </a:solidFill>
                <a:latin typeface="Segoe UI"/>
              </a:rPr>
              <a:t>FOR CANDIDATES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47088"/>
            <a:ext cx="502920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Smart discovery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filter by role, salary, location &amp; experience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One-click apply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auto-filled profile + resume upload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Live tracker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Applied → Under Review → Selected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Saved jobs &amp; compare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weigh two offers side-by-side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Profile meter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guided setup that boosts hiring odds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5532120" cy="2304288"/>
          </a:xfrm>
          <a:prstGeom prst="roundRect">
            <a:avLst>
              <a:gd name="adj" fmla="val 5500"/>
            </a:avLst>
          </a:prstGeom>
          <a:solidFill>
            <a:srgbClr val="FDF3DF"/>
          </a:solidFill>
          <a:ln w="12700">
            <a:solidFill>
              <a:srgbClr val="F3DD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499616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B47406"/>
                </a:solidFill>
                <a:latin typeface="Segoe UI"/>
              </a:rPr>
              <a:t>FOR RECRUITERS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847088"/>
            <a:ext cx="5029200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F59E0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Post &amp; manage jobs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skills, benefits, deadlines &amp; status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F59E0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Visual pipeline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hiring stages with live counts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F59E0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Candidate screening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search &amp; filter applicants instantly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F59E0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Company branding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mission, gallery, benefits &amp; reviews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9E0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Live analytics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per-job and status charts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904488"/>
            <a:ext cx="5623560" cy="249349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3950208"/>
            <a:ext cx="5532120" cy="274320"/>
          </a:xfrm>
          <a:prstGeom prst="roundRect">
            <a:avLst>
              <a:gd name="adj" fmla="val 50000"/>
            </a:avLst>
          </a:prstGeom>
          <a:solidFill>
            <a:srgbClr val="E9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1404" y="4048964"/>
            <a:ext cx="76808" cy="7680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40" y="4048964"/>
            <a:ext cx="76808" cy="7680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8876" y="4048964"/>
            <a:ext cx="76808" cy="7680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009644"/>
            <a:ext cx="457200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000500"/>
            <a:ext cx="4434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B87"/>
                </a:solidFill>
                <a:latin typeface="Segoe UI"/>
              </a:rPr>
              <a:t>job-kart.org</a:t>
            </a:r>
          </a:p>
        </p:txBody>
      </p:sp>
      <p:pic>
        <p:nvPicPr>
          <p:cNvPr id="19" name="Picture 18" descr="s3-candi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24528"/>
            <a:ext cx="5532120" cy="212773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217920" y="3904488"/>
            <a:ext cx="5623560" cy="249349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63640" y="3950208"/>
            <a:ext cx="5532120" cy="274320"/>
          </a:xfrm>
          <a:prstGeom prst="roundRect">
            <a:avLst>
              <a:gd name="adj" fmla="val 50000"/>
            </a:avLst>
          </a:prstGeom>
          <a:solidFill>
            <a:srgbClr val="E9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26404" y="4048964"/>
            <a:ext cx="76808" cy="7680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0140" y="4048964"/>
            <a:ext cx="76808" cy="7680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73876" y="4048964"/>
            <a:ext cx="76808" cy="7680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95160" y="4009644"/>
            <a:ext cx="457200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4000500"/>
            <a:ext cx="4434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B87"/>
                </a:solidFill>
                <a:latin typeface="Segoe UI"/>
              </a:rPr>
              <a:t>job-kart.org</a:t>
            </a:r>
          </a:p>
        </p:txBody>
      </p:sp>
      <p:pic>
        <p:nvPicPr>
          <p:cNvPr id="27" name="Picture 26" descr="s3-recrui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224528"/>
            <a:ext cx="5532120" cy="21277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646199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6B87"/>
                </a:solidFill>
                <a:latin typeface="Segoe UI"/>
              </a:rPr>
              <a:t>Candidate dashboard — live stats, timeline &amp; interview schedule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646199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6B87"/>
                </a:solidFill>
                <a:latin typeface="Segoe UI"/>
              </a:rPr>
              <a:t>Recruiter dashboard — pipeline &amp; application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A6B87"/>
                </a:solidFill>
                <a:latin typeface="Segoe UI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63679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563EB"/>
                </a:solidFill>
                <a:latin typeface="Segoe UI"/>
              </a:rPr>
              <a:t>04  </a:t>
            </a:r>
            <a:r>
              <a:rPr sz="1200" b="1" i="0" spc="200">
                <a:solidFill>
                  <a:srgbClr val="5A6B87"/>
                </a:solidFill>
                <a:latin typeface="Segoe UI"/>
              </a:rPr>
              <a:t>—  METHODOLOGY /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D33"/>
                </a:solidFill>
                <a:latin typeface="Segoe UI"/>
              </a:rPr>
              <a:t>Three-tier architecture, secured by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5379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81328"/>
            <a:ext cx="91440" cy="8412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563624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2563EB"/>
                </a:solidFill>
                <a:latin typeface="Segoe U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865376"/>
            <a:ext cx="6080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A6B87"/>
                </a:solidFill>
                <a:latin typeface="Segoe UI"/>
              </a:rPr>
              <a:t>HTML5 · CSS3 · Vanilla JavaScript · Chart.js · Font Awesome 6 · DM Sans · Dark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05456"/>
            <a:ext cx="65379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505456"/>
            <a:ext cx="91440" cy="841248"/>
          </a:xfrm>
          <a:prstGeom prst="roundRect">
            <a:avLst>
              <a:gd name="adj" fmla="val 50000"/>
            </a:avLst>
          </a:prstGeom>
          <a:solidFill>
            <a:srgbClr val="0E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87752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0E749C"/>
                </a:solidFill>
                <a:latin typeface="Segoe UI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89504"/>
            <a:ext cx="6080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A6B87"/>
                </a:solidFill>
                <a:latin typeface="Segoe UI"/>
              </a:rPr>
              <a:t>Node.js · Express.js 5 · JWT · bcryptjs · express-rate-limit · dotenv · Nodemon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653796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529584"/>
            <a:ext cx="91440" cy="8412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611880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10B981"/>
                </a:solidFill>
                <a:latin typeface="Segoe UI"/>
              </a:rPr>
              <a:t>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13632"/>
            <a:ext cx="6080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A6B87"/>
                </a:solidFill>
                <a:latin typeface="Segoe UI"/>
              </a:rPr>
              <a:t>MongoDB Atlas · Mongoose ODM · 6 collections · aggregation pipelines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53712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0F1D33"/>
                </a:solidFill>
                <a:latin typeface="Segoe UI"/>
              </a:rPr>
              <a:t>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1720" y="4507992"/>
            <a:ext cx="176562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2563EB"/>
                </a:solidFill>
                <a:latin typeface="Segoe UI"/>
              </a:rPr>
              <a:t>Requirement Analysis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216215" y="4645152"/>
            <a:ext cx="146304" cy="36576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DDE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25359" y="4507992"/>
            <a:ext cx="122030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7C3AED"/>
                </a:solidFill>
                <a:latin typeface="Segoe UI"/>
              </a:rPr>
              <a:t>UI/UX Design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564539" y="4645152"/>
            <a:ext cx="146304" cy="36576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DDE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73683" y="4507992"/>
            <a:ext cx="1424801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0E749C"/>
                </a:solidFill>
                <a:latin typeface="Segoe UI"/>
              </a:rPr>
              <a:t>API Development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17356" y="4645152"/>
            <a:ext cx="146304" cy="36576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DDE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26500" y="4507992"/>
            <a:ext cx="1833787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F59E0B"/>
                </a:solidFill>
                <a:latin typeface="Segoe UI"/>
              </a:rPr>
              <a:t>Integration &amp; Testing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079159" y="4645152"/>
            <a:ext cx="146304" cy="36576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DDE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88303" y="4507992"/>
            <a:ext cx="108397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0B981"/>
                </a:solidFill>
                <a:latin typeface="Segoe UI"/>
              </a:rPr>
              <a:t>Deployment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956048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0F1D33"/>
                </a:solidFill>
                <a:latin typeface="Segoe UI"/>
              </a:rPr>
              <a:t>SECURITY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4910328"/>
            <a:ext cx="1356637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bcrypt hashing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6373" y="4910328"/>
            <a:ext cx="1083979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JWT tokens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8368" y="4910328"/>
            <a:ext cx="1561130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role-based access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17514" y="4910328"/>
            <a:ext cx="1288472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XSS sanitizer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4002" y="4910328"/>
            <a:ext cx="1288472" cy="310896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D4ED8"/>
                </a:solidFill>
                <a:latin typeface="Segoe UI"/>
              </a:rPr>
              <a:t>rate limiting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54589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 spc="200">
                <a:solidFill>
                  <a:srgbClr val="0F1D33"/>
                </a:solidFill>
                <a:latin typeface="Segoe UI"/>
              </a:rPr>
              <a:t>REQUEST FLOW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5477256"/>
            <a:ext cx="7452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A6B87"/>
                </a:solidFill>
                <a:latin typeface="Segoe UI"/>
              </a:rPr>
              <a:t>Auth: register / login → bcrypt verify → signed JWT → role-gated routes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" y="5733288"/>
            <a:ext cx="1938528" cy="548640"/>
          </a:xfrm>
          <a:prstGeom prst="roundRect">
            <a:avLst>
              <a:gd name="adj" fmla="val 16000"/>
            </a:avLst>
          </a:prstGeom>
          <a:solidFill>
            <a:srgbClr val="112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" y="5797296"/>
            <a:ext cx="1938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Client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" y="601675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D7E4FF"/>
                </a:solidFill>
                <a:latin typeface="Segoe UI"/>
              </a:rPr>
              <a:t>browser · fetch API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779776" y="5983834"/>
            <a:ext cx="182880" cy="47548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5B9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999232" y="5733288"/>
            <a:ext cx="1938528" cy="54864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5797296"/>
            <a:ext cx="1938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Express.js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99232" y="601675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D7E4FF"/>
                </a:solidFill>
                <a:latin typeface="Segoe UI"/>
              </a:rPr>
              <a:t>27 endpoints · middleware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974336" y="5983834"/>
            <a:ext cx="182880" cy="47548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5B9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93792" y="5733288"/>
            <a:ext cx="1938528" cy="548640"/>
          </a:xfrm>
          <a:prstGeom prst="roundRect">
            <a:avLst>
              <a:gd name="adj" fmla="val 1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93792" y="5797296"/>
            <a:ext cx="1938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JWT / bcrypt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93792" y="601675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E4DCFC"/>
                </a:solidFill>
                <a:latin typeface="Segoe UI"/>
              </a:rPr>
              <a:t>auth &amp; role guard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7168896" y="5983834"/>
            <a:ext cx="182880" cy="47548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5B9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88352" y="5733288"/>
            <a:ext cx="1938528" cy="548640"/>
          </a:xfrm>
          <a:prstGeom prst="roundRect">
            <a:avLst>
              <a:gd name="adj" fmla="val 16000"/>
            </a:avLst>
          </a:prstGeom>
          <a:solidFill>
            <a:srgbClr val="0E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88352" y="5797296"/>
            <a:ext cx="1938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Mongoose ODM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88352" y="601675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9E8F3"/>
                </a:solidFill>
                <a:latin typeface="Segoe UI"/>
              </a:rPr>
              <a:t>models &amp; schemas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9363456" y="5983834"/>
            <a:ext cx="182880" cy="47548"/>
          </a:xfrm>
          <a:prstGeom prst="rightArrow">
            <a:avLst>
              <a:gd name="adj1" fmla="val 62000"/>
              <a:gd name="adj2" fmla="val 55000"/>
            </a:avLst>
          </a:prstGeom>
          <a:solidFill>
            <a:srgbClr val="5B9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582912" y="5733288"/>
            <a:ext cx="1938528" cy="54864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82912" y="5797296"/>
            <a:ext cx="19385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MongoDB Atlas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82912" y="601675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C7F2E4"/>
                </a:solidFill>
                <a:latin typeface="Segoe UI"/>
              </a:rPr>
              <a:t>6 collections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A6B87"/>
                </a:solidFill>
                <a:latin typeface="Segoe UI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59E0B"/>
                </a:solidFill>
                <a:latin typeface="Segoe UI"/>
              </a:rPr>
              <a:t>05  </a:t>
            </a:r>
            <a:r>
              <a:rPr sz="1200" b="1" i="0" spc="200">
                <a:solidFill>
                  <a:srgbClr val="5A6B87"/>
                </a:solidFill>
                <a:latin typeface="Segoe UI"/>
              </a:rPr>
              <a:t>—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1D33"/>
                </a:solidFill>
                <a:latin typeface="Segoe UI"/>
              </a:rPr>
              <a:t>Outputs achieved — a working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487168" cy="1207008"/>
          </a:xfrm>
          <a:prstGeom prst="roundRect">
            <a:avLst>
              <a:gd name="adj" fmla="val 9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563EB"/>
                </a:solidFill>
                <a:latin typeface="Segoe UI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2487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87"/>
                </a:solidFill>
                <a:latin typeface="Segoe UI"/>
              </a:rPr>
              <a:t>REST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5264" y="1463040"/>
            <a:ext cx="2487168" cy="1207008"/>
          </a:xfrm>
          <a:prstGeom prst="roundRect">
            <a:avLst>
              <a:gd name="adj" fmla="val 9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55264" y="1572768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10B981"/>
                </a:solidFill>
                <a:latin typeface="Segoe U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55264" y="2212848"/>
            <a:ext cx="2487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87"/>
                </a:solidFill>
                <a:latin typeface="Segoe UI"/>
              </a:rPr>
              <a:t>data collections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61888" y="1463040"/>
            <a:ext cx="2487168" cy="1207008"/>
          </a:xfrm>
          <a:prstGeom prst="roundRect">
            <a:avLst>
              <a:gd name="adj" fmla="val 9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572768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749C"/>
                </a:solidFill>
                <a:latin typeface="Segoe UI"/>
              </a:rPr>
              <a:t>13.8k+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212848"/>
            <a:ext cx="2487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87"/>
                </a:solidFill>
                <a:latin typeface="Segoe UI"/>
              </a:rPr>
              <a:t>lines of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8512" y="1463040"/>
            <a:ext cx="2487168" cy="1207008"/>
          </a:xfrm>
          <a:prstGeom prst="roundRect">
            <a:avLst>
              <a:gd name="adj" fmla="val 9000"/>
            </a:avLst>
          </a:prstGeom>
          <a:solidFill>
            <a:srgbClr val="F6F8FC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68512" y="1572768"/>
            <a:ext cx="24871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59E0B"/>
                </a:solidFill>
                <a:latin typeface="Segoe UI"/>
              </a:rPr>
              <a:t>10+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8512" y="2212848"/>
            <a:ext cx="24871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87"/>
                </a:solidFill>
                <a:latin typeface="Segoe UI"/>
              </a:rPr>
              <a:t>responsive pages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9992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0F1D33"/>
                </a:solidFill>
                <a:latin typeface="Segoe UI"/>
              </a:rPr>
              <a:t>DEMONSTRATED OUTPUTS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64992"/>
            <a:ext cx="562356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End-to-end hiring loop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post, apply, track, shortlist, hire in one platform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Rich company pages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7 seeded companies, culture pages &amp; 12 verified reviews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Analytics dashboards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Chart.js visuals for both roles via aggregation pipelines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0F1D33"/>
                </a:solidFill>
                <a:latin typeface="Segoe UI"/>
              </a:rPr>
              <a:t>Secure demo environment  </a:t>
            </a:r>
            <a:r>
              <a:rPr sz="1050" b="0" i="0">
                <a:solidFill>
                  <a:srgbClr val="5A6B87"/>
                </a:solidFill>
                <a:latin typeface="Segoe UI"/>
              </a:rPr>
              <a:t>— JWT sessions, demo users &amp; full hiring-pipeline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2990088"/>
            <a:ext cx="5166360" cy="2317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3035808"/>
            <a:ext cx="5074920" cy="274320"/>
          </a:xfrm>
          <a:prstGeom prst="roundRect">
            <a:avLst>
              <a:gd name="adj" fmla="val 50000"/>
            </a:avLst>
          </a:prstGeom>
          <a:solidFill>
            <a:srgbClr val="E9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00724" y="3134564"/>
            <a:ext cx="76808" cy="76808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74460" y="3134564"/>
            <a:ext cx="76808" cy="76808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48196" y="3134564"/>
            <a:ext cx="76808" cy="76808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69480" y="3095244"/>
            <a:ext cx="4114800" cy="1554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60920" y="3086100"/>
            <a:ext cx="39776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B87"/>
                </a:solidFill>
                <a:latin typeface="Segoe UI"/>
              </a:rPr>
              <a:t>job-kart.org</a:t>
            </a:r>
          </a:p>
        </p:txBody>
      </p:sp>
      <p:pic>
        <p:nvPicPr>
          <p:cNvPr id="27" name="Picture 26" descr="s6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310128"/>
            <a:ext cx="5074920" cy="195189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537960" y="537174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A6B87"/>
                </a:solidFill>
                <a:latin typeface="Segoe UI"/>
              </a:rPr>
              <a:t>Homepage — animated stats, featured roles &amp; company strip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1264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100">
                <a:solidFill>
                  <a:srgbClr val="0F1D33"/>
                </a:solidFill>
                <a:latin typeface="Segoe UI"/>
              </a:rPr>
              <a:t>ALSO VERIFIED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6071616"/>
            <a:ext cx="2242773" cy="310896"/>
          </a:xfrm>
          <a:prstGeom prst="roundRect">
            <a:avLst>
              <a:gd name="adj" fmla="val 50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2563EB"/>
                </a:solidFill>
                <a:latin typeface="Segoe UI"/>
              </a:rPr>
              <a:t>Candidate &amp; recruiter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99589" y="6071616"/>
            <a:ext cx="1697458" cy="310896"/>
          </a:xfrm>
          <a:prstGeom prst="roundRect">
            <a:avLst>
              <a:gd name="adj" fmla="val 50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10B981"/>
                </a:solidFill>
                <a:latin typeface="Segoe UI"/>
              </a:rPr>
              <a:t>Mobile-first layout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25063" y="6071616"/>
            <a:ext cx="1970116" cy="310896"/>
          </a:xfrm>
          <a:prstGeom prst="roundRect">
            <a:avLst>
              <a:gd name="adj" fmla="val 50000"/>
            </a:avLst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000" b="1" i="0">
                <a:solidFill>
                  <a:srgbClr val="0E749C"/>
                </a:solidFill>
                <a:latin typeface="Segoe UI"/>
              </a:rPr>
              <a:t>Zero framework overhead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A6B87"/>
                </a:solidFill>
                <a:latin typeface="Segoe UI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99855" y="-2743200"/>
            <a:ext cx="4389120" cy="4389120"/>
          </a:xfrm>
          <a:prstGeom prst="ellipse">
            <a:avLst/>
          </a:prstGeom>
          <a:solidFill>
            <a:srgbClr val="16356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651760" y="5394960"/>
            <a:ext cx="3840480" cy="3840480"/>
          </a:xfrm>
          <a:prstGeom prst="ellipse">
            <a:avLst/>
          </a:prstGeom>
          <a:solidFill>
            <a:srgbClr val="2563EB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2563EB"/>
                </a:solidFill>
                <a:latin typeface="Segoe UI"/>
              </a:rPr>
              <a:t>06  </a:t>
            </a:r>
            <a:r>
              <a:rPr sz="1200" b="1" i="0" spc="200">
                <a:solidFill>
                  <a:srgbClr val="5B9BF5"/>
                </a:solidFill>
                <a:latin typeface="Segoe UI"/>
              </a:rPr>
              <a:t>—  CONCLUSION &amp;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Where the project stands — and where it goes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81328"/>
            <a:ext cx="5532120" cy="3794760"/>
          </a:xfrm>
          <a:prstGeom prst="roundRect">
            <a:avLst>
              <a:gd name="adj" fmla="val 5500"/>
            </a:avLst>
          </a:prstGeom>
          <a:solidFill>
            <a:srgbClr val="112B55"/>
          </a:solidFill>
          <a:ln w="12700">
            <a:solidFill>
              <a:srgbClr val="2E4C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5B9BF5"/>
                </a:solidFill>
                <a:latin typeface="Segoe UI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48256"/>
            <a:ext cx="502920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Fully functional platform  </a:t>
            </a:r>
            <a:r>
              <a:rPr sz="1050" b="0" i="0">
                <a:solidFill>
                  <a:srgbClr val="5B9BF5"/>
                </a:solidFill>
                <a:latin typeface="Segoe UI"/>
              </a:rPr>
              <a:t>— every core flow works end-to-end on live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Both journeys served  </a:t>
            </a:r>
            <a:r>
              <a:rPr sz="1050" b="0" i="0">
                <a:solidFill>
                  <a:srgbClr val="5B9BF5"/>
                </a:solidFill>
                <a:latin typeface="Segoe UI"/>
              </a:rPr>
              <a:t>— candidates track applications; recruiters manage a visual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Security-first stack  </a:t>
            </a:r>
            <a:r>
              <a:rPr sz="1050" b="0" i="0">
                <a:solidFill>
                  <a:srgbClr val="5B9BF5"/>
                </a:solidFill>
                <a:latin typeface="Segoe UI"/>
              </a:rPr>
              <a:t>— JWT auth, bcrypt hashing, XSS sanitization &amp; rate limiting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Lean by design  </a:t>
            </a:r>
            <a:r>
              <a:rPr sz="1050" b="0" i="0">
                <a:solidFill>
                  <a:srgbClr val="5B9BF5"/>
                </a:solidFill>
                <a:latin typeface="Segoe UI"/>
              </a:rPr>
              <a:t>— framework-free frontend: zero build step, instant deploys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Segoe UI"/>
              </a:rPr>
              <a:t>●  </a:t>
            </a:r>
            <a:r>
              <a:rPr sz="1200" b="1" i="0">
                <a:solidFill>
                  <a:srgbClr val="FFFFFF"/>
                </a:solidFill>
                <a:latin typeface="Segoe UI"/>
              </a:rPr>
              <a:t>Deploy-ready  </a:t>
            </a:r>
            <a:r>
              <a:rPr sz="1050" b="0" i="0">
                <a:solidFill>
                  <a:srgbClr val="5B9BF5"/>
                </a:solidFill>
                <a:latin typeface="Segoe UI"/>
              </a:rPr>
              <a:t>— cloud database + static frontend, live on Vercel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532120" cy="3794760"/>
          </a:xfrm>
          <a:prstGeom prst="roundRect">
            <a:avLst>
              <a:gd name="adj" fmla="val 5500"/>
            </a:avLst>
          </a:prstGeom>
          <a:solidFill>
            <a:srgbClr val="163566"/>
          </a:solidFill>
          <a:ln w="12700">
            <a:solidFill>
              <a:srgbClr val="3A5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8"/>
            <a:ext cx="4983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 spc="200">
                <a:solidFill>
                  <a:srgbClr val="F59E0B"/>
                </a:solidFill>
                <a:latin typeface="Segoe UI"/>
              </a:rPr>
              <a:t>FUTURE ENHANCEMENTS</a:t>
            </a:r>
          </a:p>
        </p:txBody>
      </p:sp>
      <p:sp>
        <p:nvSpPr>
          <p:cNvPr id="12" name="Oval 11"/>
          <p:cNvSpPr/>
          <p:nvPr/>
        </p:nvSpPr>
        <p:spPr>
          <a:xfrm>
            <a:off x="6574536" y="2112264"/>
            <a:ext cx="292608" cy="29260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76872" y="210312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Email &amp; push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234086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DC2E4"/>
                </a:solidFill>
                <a:latin typeface="Segoe UI"/>
              </a:rPr>
              <a:t>application status updates and new-job notifications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574536" y="2715768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6872" y="2706624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AI job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6872" y="294436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DC2E4"/>
                </a:solidFill>
                <a:latin typeface="Segoe UI"/>
              </a:rPr>
              <a:t>resume-based recommendation of best-fit roles</a:t>
            </a:r>
          </a:p>
        </p:txBody>
      </p:sp>
      <p:sp>
        <p:nvSpPr>
          <p:cNvPr id="18" name="Oval 17"/>
          <p:cNvSpPr/>
          <p:nvPr/>
        </p:nvSpPr>
        <p:spPr>
          <a:xfrm>
            <a:off x="6574536" y="3319272"/>
            <a:ext cx="292608" cy="292608"/>
          </a:xfrm>
          <a:prstGeom prst="ellipse">
            <a:avLst/>
          </a:prstGeom>
          <a:solidFill>
            <a:srgbClr val="0E74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6872" y="3310128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Resume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354787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DC2E4"/>
                </a:solidFill>
                <a:latin typeface="Segoe UI"/>
              </a:rPr>
              <a:t>auto-fill profiles from uploaded CVs</a:t>
            </a:r>
          </a:p>
        </p:txBody>
      </p:sp>
      <p:sp>
        <p:nvSpPr>
          <p:cNvPr id="21" name="Oval 20"/>
          <p:cNvSpPr/>
          <p:nvPr/>
        </p:nvSpPr>
        <p:spPr>
          <a:xfrm>
            <a:off x="6574536" y="3922776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6872" y="3913632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Admin verification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76872" y="415137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DC2E4"/>
                </a:solidFill>
                <a:latin typeface="Segoe UI"/>
              </a:rPr>
              <a:t>company and posting approval workflow</a:t>
            </a:r>
          </a:p>
        </p:txBody>
      </p:sp>
      <p:sp>
        <p:nvSpPr>
          <p:cNvPr id="24" name="Oval 23"/>
          <p:cNvSpPr/>
          <p:nvPr/>
        </p:nvSpPr>
        <p:spPr>
          <a:xfrm>
            <a:off x="6574536" y="4526280"/>
            <a:ext cx="292608" cy="2926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6872" y="4517136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PWA mobile 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47548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DC2E4"/>
                </a:solidFill>
                <a:latin typeface="Segoe UI"/>
              </a:rPr>
              <a:t>installable experience with offline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715000"/>
            <a:ext cx="94484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Thank you</a:t>
            </a:r>
            <a:r>
              <a:rPr sz="1400" b="0" i="1">
                <a:solidFill>
                  <a:srgbClr val="9FB4D8"/>
                </a:solidFill>
                <a:latin typeface="Segoe UI"/>
              </a:rPr>
              <a:t>  ·  Questions welcome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300">
                <a:solidFill>
                  <a:srgbClr val="FFFFFF"/>
                </a:solidFill>
                <a:latin typeface="Segoe UI"/>
              </a:rPr>
              <a:t>JOB</a:t>
            </a:r>
            <a:r>
              <a:rPr sz="1000" b="1" i="0">
                <a:solidFill>
                  <a:srgbClr val="5B9BF5"/>
                </a:solidFill>
                <a:latin typeface="Segoe UI"/>
              </a:rPr>
              <a:t>·</a:t>
            </a:r>
            <a:r>
              <a:rPr sz="1000" b="1" i="0" spc="300">
                <a:solidFill>
                  <a:srgbClr val="FFFFFF"/>
                </a:solidFill>
                <a:latin typeface="Segoe UI"/>
              </a:rPr>
              <a:t>KART</a:t>
            </a:r>
            <a:r>
              <a:rPr sz="900" b="0" i="1">
                <a:solidFill>
                  <a:srgbClr val="5B9BF5"/>
                </a:solidFill>
                <a:latin typeface="Segoe UI"/>
              </a:rPr>
              <a:t>   |   Empowering Careers, Simplifying Hiring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46520"/>
            <a:ext cx="100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5B9BF5"/>
                </a:solidFill>
                <a:latin typeface="Segoe UI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