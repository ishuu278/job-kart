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2926080"/>
            <a:ext cx="4754880" cy="4754880"/>
          </a:xfrm>
          <a:prstGeom prst="ellipse">
            <a:avLst/>
          </a:prstGeom>
          <a:solidFill>
            <a:srgbClr val="16356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017520" y="5029200"/>
            <a:ext cx="4389120" cy="4389120"/>
          </a:xfrm>
          <a:prstGeom prst="ellipse">
            <a:avLst/>
          </a:prstGeom>
          <a:solidFill>
            <a:srgbClr val="16356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99855" y="6126480"/>
            <a:ext cx="2743200" cy="2743200"/>
          </a:xfrm>
          <a:prstGeom prst="ellipse">
            <a:avLst/>
          </a:prstGeom>
          <a:solidFill>
            <a:srgbClr val="2563EB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5B9BF5"/>
                </a:solidFill>
                <a:latin typeface="Segoe UI"/>
              </a:rPr>
              <a:t>FULL-STACK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6126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Segoe UI"/>
              </a:rPr>
              <a:t>JOB</a:t>
            </a:r>
            <a:r>
              <a:rPr sz="5800" b="1" i="0">
                <a:solidFill>
                  <a:srgbClr val="5B9BF5"/>
                </a:solidFill>
                <a:latin typeface="Segoe UI"/>
              </a:rPr>
              <a:t>·</a:t>
            </a:r>
            <a:r>
              <a:rPr sz="5800" b="1" i="0">
                <a:solidFill>
                  <a:srgbClr val="FFFFFF"/>
                </a:solidFill>
                <a:latin typeface="Segoe UI"/>
              </a:rPr>
              <a:t>KART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029968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5B9BF5"/>
                </a:solidFill>
                <a:latin typeface="Segoe UI"/>
              </a:rPr>
              <a:t>Empowering Careers, Simplifying Hiring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487168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D6EE"/>
                </a:solidFill>
                <a:latin typeface="Segoe UI"/>
              </a:rPr>
              <a:t>A full-stack job-portal platform connecting verified talent with India's top employers — built on the MERN-style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3401568"/>
            <a:ext cx="903344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 i="0">
                <a:solidFill>
                  <a:srgbClr val="BFD3F5"/>
                </a:solidFill>
                <a:latin typeface="Segoe UI"/>
              </a:rP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7432" y="3401568"/>
            <a:ext cx="1261206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 i="0">
                <a:solidFill>
                  <a:srgbClr val="BFD3F5"/>
                </a:solidFill>
                <a:latin typeface="Segoe UI"/>
              </a:rPr>
              <a:t>Express.js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6654" y="3401568"/>
            <a:ext cx="1046489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 i="0">
                <a:solidFill>
                  <a:srgbClr val="BFD3F5"/>
                </a:solidFill>
                <a:latin typeface="Segoe UI"/>
              </a:rPr>
              <a:t>Socket.io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1159" y="3401568"/>
            <a:ext cx="974916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 i="0">
                <a:solidFill>
                  <a:srgbClr val="BFD3F5"/>
                </a:solidFill>
                <a:latin typeface="Segoe UI"/>
              </a:rPr>
              <a:t>JWT 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4091" y="3401568"/>
            <a:ext cx="1118061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 i="0">
                <a:solidFill>
                  <a:srgbClr val="BFD3F5"/>
                </a:solidFill>
                <a:latin typeface="Segoe UI"/>
              </a:rPr>
              <a:t>Vanilla 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76732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300">
                <a:solidFill>
                  <a:srgbClr val="8FA6CB"/>
                </a:solidFill>
                <a:latin typeface="Segoe UI"/>
              </a:rPr>
              <a:t>PRESENTED BY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96512"/>
            <a:ext cx="3127248" cy="932688"/>
          </a:xfrm>
          <a:prstGeom prst="roundRect">
            <a:avLst>
              <a:gd name="adj" fmla="val 10000"/>
            </a:avLst>
          </a:prstGeom>
          <a:solidFill>
            <a:srgbClr val="112B55"/>
          </a:solidFill>
          <a:ln w="1270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" y="4325112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4443984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261104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Tusar Kumar Mahakud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645152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5B9BF5"/>
                </a:solidFill>
                <a:latin typeface="Segoe UI"/>
              </a:rPr>
              <a:t>Regd No. 2301289131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096512"/>
            <a:ext cx="3127248" cy="932688"/>
          </a:xfrm>
          <a:prstGeom prst="roundRect">
            <a:avLst>
              <a:gd name="adj" fmla="val 10000"/>
            </a:avLst>
          </a:prstGeom>
          <a:solidFill>
            <a:srgbClr val="112B55"/>
          </a:solidFill>
          <a:ln w="1270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86784" y="4325112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86784" y="4443984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261104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Swadhin Panigrahi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645152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5B9BF5"/>
                </a:solidFill>
                <a:latin typeface="Segoe UI"/>
              </a:rPr>
              <a:t>Regd No. 2301289125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75504"/>
            <a:ext cx="3127248" cy="932688"/>
          </a:xfrm>
          <a:prstGeom prst="roundRect">
            <a:avLst>
              <a:gd name="adj" fmla="val 10000"/>
            </a:avLst>
          </a:prstGeom>
          <a:solidFill>
            <a:srgbClr val="112B55"/>
          </a:solidFill>
          <a:ln w="1270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4944" y="5404104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5522976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5340096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Tannu Kumari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5724144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5B9BF5"/>
                </a:solidFill>
                <a:latin typeface="Segoe UI"/>
              </a:rPr>
              <a:t>Regd No. 2301289130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5175504"/>
            <a:ext cx="3127248" cy="932688"/>
          </a:xfrm>
          <a:prstGeom prst="roundRect">
            <a:avLst>
              <a:gd name="adj" fmla="val 10000"/>
            </a:avLst>
          </a:prstGeom>
          <a:solidFill>
            <a:srgbClr val="112B55"/>
          </a:solidFill>
          <a:ln w="1270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86784" y="5404104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86784" y="5522976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5340096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Subhrakant Senapati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5724144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5B9BF5"/>
                </a:solidFill>
                <a:latin typeface="Segoe UI"/>
              </a:rPr>
              <a:t>Regd No. 2301289122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8FA6CB"/>
                </a:solidFill>
                <a:latin typeface="Segoe UI"/>
              </a:rPr>
              <a:t>Guide: —   ·   Session 2024–26   ·   2026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594360"/>
            <a:ext cx="4389120" cy="30518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60920" y="640080"/>
            <a:ext cx="4297680" cy="27432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23684" y="738836"/>
            <a:ext cx="76808" cy="7680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97420" y="738836"/>
            <a:ext cx="76808" cy="7680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71156" y="738836"/>
            <a:ext cx="76808" cy="7680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92440" y="699516"/>
            <a:ext cx="333756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690372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B87"/>
                </a:solidFill>
                <a:latin typeface="Segoe UI"/>
              </a:rPr>
              <a:t>job-kart.org</a:t>
            </a:r>
          </a:p>
        </p:txBody>
      </p:sp>
      <p:pic>
        <p:nvPicPr>
          <p:cNvPr id="44" name="Picture 43" descr="01-hom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914400"/>
            <a:ext cx="4297680" cy="268605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0497312" y="3730752"/>
            <a:ext cx="1225296" cy="2502642"/>
          </a:xfrm>
          <a:prstGeom prst="roundRect">
            <a:avLst>
              <a:gd name="adj" fmla="val 12000"/>
            </a:avLst>
          </a:prstGeom>
          <a:solidFill>
            <a:srgbClr val="163566"/>
          </a:solidFill>
          <a:ln w="1524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13-mobile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794760"/>
            <a:ext cx="1097280" cy="237462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138160" y="47548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9FB4D8"/>
                </a:solidFill>
                <a:latin typeface="Segoe UI"/>
              </a:rPr>
              <a:t>Mobile-first UX  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B9BF5"/>
                </a:solidFill>
                <a:latin typeface="Segoe U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563EB"/>
                </a:solidFill>
                <a:latin typeface="Segoe UI"/>
              </a:rPr>
              <a:t>01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D33"/>
                </a:solidFill>
                <a:latin typeface="Segoe UI"/>
              </a:rPr>
              <a:t>Hiring is fragmented, opaque and slow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B87"/>
                </a:solidFill>
                <a:latin typeface="Segoe UI"/>
              </a:rPr>
              <a:t>Motivation: students chase scattered postings while recruiters juggle spreadsheets — JOB·KART was built to fix both sides of this broken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3101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82296" cy="20299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47672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⌖  </a:t>
            </a:r>
            <a:r>
              <a:rPr sz="1450" b="1" i="0">
                <a:solidFill>
                  <a:srgbClr val="0F1D33"/>
                </a:solidFill>
                <a:latin typeface="Segoe UI"/>
              </a:rPr>
              <a:t>Scattered Listings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8346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Openings are spread across dozens of boards and groups — no single, verified source of truth for job seekers.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8" y="1783080"/>
            <a:ext cx="33101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33088" y="1783080"/>
            <a:ext cx="82296" cy="2029968"/>
          </a:xfrm>
          <a:prstGeom prst="roundRect">
            <a:avLst>
              <a:gd name="adj" fmla="val 50000"/>
            </a:avLst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47672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9BF5"/>
                </a:solidFill>
                <a:latin typeface="Segoe UI"/>
              </a:rPr>
              <a:t>?  </a:t>
            </a:r>
            <a:r>
              <a:rPr sz="1450" b="1" i="0">
                <a:solidFill>
                  <a:srgbClr val="0F1D33"/>
                </a:solidFill>
                <a:latin typeface="Segoe UI"/>
              </a:rPr>
              <a:t>Zero 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86584"/>
            <a:ext cx="28346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Candidates apply into a void: no status, no timeline, no feedback loop after clicking apply.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50792"/>
            <a:ext cx="33101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050792"/>
            <a:ext cx="82296" cy="20299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215384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≡  </a:t>
            </a:r>
            <a:r>
              <a:rPr sz="1450" b="1" i="0">
                <a:solidFill>
                  <a:srgbClr val="0F1D33"/>
                </a:solidFill>
                <a:latin typeface="Segoe UI"/>
              </a:rPr>
              <a:t>Manual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654296"/>
            <a:ext cx="28346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Recruiters drown in unstructured CVs and spreadsheets, tracking who is applied, shortlisted or hired.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8" y="4050792"/>
            <a:ext cx="33101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33088" y="4050792"/>
            <a:ext cx="82296" cy="20299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215384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B981"/>
                </a:solidFill>
                <a:latin typeface="Segoe UI"/>
              </a:rPr>
              <a:t>⚑  </a:t>
            </a:r>
            <a:r>
              <a:rPr sz="1450" b="1" i="0">
                <a:solidFill>
                  <a:srgbClr val="0F1D33"/>
                </a:solidFill>
                <a:latin typeface="Segoe UI"/>
              </a:rPr>
              <a:t>Employer Trust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54296"/>
            <a:ext cx="28346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Postings reveal little about companies — no profiles, culture or verified employee reviews to rely 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53528" y="1161288"/>
            <a:ext cx="4160520" cy="29089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99248" y="1207008"/>
            <a:ext cx="4069080" cy="27432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62012" y="1305764"/>
            <a:ext cx="76808" cy="7680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5748" y="1305764"/>
            <a:ext cx="76808" cy="7680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9484" y="1305764"/>
            <a:ext cx="76808" cy="7680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30768" y="1266444"/>
            <a:ext cx="310896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1257300"/>
            <a:ext cx="2971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B87"/>
                </a:solidFill>
                <a:latin typeface="Segoe UI"/>
              </a:rPr>
              <a:t>job-kart.org</a:t>
            </a:r>
          </a:p>
        </p:txBody>
      </p:sp>
      <p:pic>
        <p:nvPicPr>
          <p:cNvPr id="30" name="Picture 29" descr="04-ope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481328"/>
            <a:ext cx="4069080" cy="254317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406640" y="4262247"/>
            <a:ext cx="4617720" cy="548640"/>
          </a:xfrm>
          <a:prstGeom prst="roundRect">
            <a:avLst>
              <a:gd name="adj" fmla="val 3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4262247"/>
            <a:ext cx="4251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 live roles · 7 companies · 0 status updates after applying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5048631"/>
            <a:ext cx="4617720" cy="1572768"/>
          </a:xfrm>
          <a:prstGeom prst="roundRect">
            <a:avLst>
              <a:gd name="adj" fmla="val 8000"/>
            </a:avLst>
          </a:prstGeom>
          <a:solidFill>
            <a:srgbClr val="EAF1FE"/>
          </a:solidFill>
          <a:ln w="12700">
            <a:solidFill>
              <a:srgbClr val="C7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62672" y="5194935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1D4ED8"/>
                </a:solidFill>
                <a:latin typeface="Segoe UI"/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2" y="5505831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E5E"/>
                </a:solidFill>
                <a:latin typeface="Segoe UI"/>
              </a:rPr>
              <a:t>India's hiring market serves millions of job-seekers every year — every missing status update and every manual spreadsheet multiplies wasted effort on both sides of the desk.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0">
                <a:solidFill>
                  <a:srgbClr val="0F1D33"/>
                </a:solidFill>
                <a:latin typeface="Segoe UI"/>
              </a:rPr>
              <a:t>JOB</a:t>
            </a:r>
            <a:r>
              <a:rPr sz="1000" b="1" i="0">
                <a:solidFill>
                  <a:srgbClr val="5B9BF5"/>
                </a:solidFill>
                <a:latin typeface="Segoe UI"/>
              </a:rPr>
              <a:t>·</a:t>
            </a:r>
            <a:r>
              <a:rPr sz="1000" b="1" i="0" spc="300">
                <a:solidFill>
                  <a:srgbClr val="0F1D33"/>
                </a:solidFill>
                <a:latin typeface="Segoe UI"/>
              </a:rPr>
              <a:t>KART</a:t>
            </a:r>
            <a:r>
              <a:rPr sz="900" b="0" i="1">
                <a:solidFill>
                  <a:srgbClr val="5A6B87"/>
                </a:solidFill>
                <a:latin typeface="Segoe UI"/>
              </a:rPr>
              <a:t>   |   Empowering Careers, Simplifying Hiring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563EB"/>
                </a:solidFill>
                <a:latin typeface="Segoe UI"/>
              </a:rPr>
              <a:t>02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D33"/>
                </a:solidFill>
                <a:latin typeface="Segoe UI"/>
              </a:rPr>
              <a:t>What the project set out to achieve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92224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563EB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55648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Unified verified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39696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One trusted platform aggregating verified openings from real companies.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72768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792224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B9BF5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755648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Transparent application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39696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A real-time status pipeline — Applied → Under Review → Shortlisted → Interview → Selected — for every candidate.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45536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364992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9E0B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28416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Efficient hiring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12464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Visual pipeline and screening tools that replace manual spreadsheet tracking for recruiters.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145536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364992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B981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328416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Insightful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712464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Live analytics charts for applications, hiring status and per-job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18304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937760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C3AED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01184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Secure 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285232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JWT authentication with candidate/recruiter separation and hashed credentials.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18304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4937760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749C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901184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Lightweight responsive 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285232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Framework-free, mobile-first interface with dark mode and zero build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447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D33"/>
                </a:solidFill>
                <a:latin typeface="Segoe UI"/>
              </a:rPr>
              <a:t>Scope: </a:t>
            </a:r>
            <a:r>
              <a:rPr sz="1100" b="0" i="0">
                <a:solidFill>
                  <a:srgbClr val="5A6B87"/>
                </a:solidFill>
                <a:latin typeface="Segoe UI"/>
              </a:rPr>
              <a:t>full-stack web app — REST API, authenticated realtime, ATS resume intelligence + responsive frontend; self-hostable on any Node.js runtime with WebSocket support.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563EB"/>
                </a:solidFill>
                <a:latin typeface="Segoe UI"/>
              </a:rPr>
              <a:t>03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PROJECT FUNCTIONALITIES ·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D33"/>
                </a:solidFill>
                <a:latin typeface="Segoe UI"/>
              </a:rPr>
              <a:t>For candidates — discover, apply, track and get hired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532120" cy="4343400"/>
          </a:xfrm>
          <a:prstGeom prst="roundRect">
            <a:avLst>
              <a:gd name="adj" fmla="val 5500"/>
            </a:avLst>
          </a:prstGeom>
          <a:solidFill>
            <a:srgbClr val="EAF1FE"/>
          </a:solidFill>
          <a:ln w="12700">
            <a:solidFill>
              <a:srgbClr val="C7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2563EB"/>
                </a:solidFill>
                <a:latin typeface="Segoe UI"/>
              </a:rPr>
              <a:t>FOR CANDIDATES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502920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Smart discovery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keyword search, type, location &amp; fresher filters, salary sort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One-click apply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auto-filled profile + PDF resume upload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Deadline-aware apply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expired roles hidden, apply window enforced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ATS scanner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resume score, fixes &amp; job-fit ranking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Saved jobs &amp; compare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shortlist and weigh two offers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Withdraw anytime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pull an application straight back from the tracker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Profile &amp; photo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guided setup, parsed skills &amp; avatar upload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Follow companies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one tap keeps their openings in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623560" cy="24934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532120" cy="27432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6404" y="1470356"/>
            <a:ext cx="76808" cy="7680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00140" y="1470356"/>
            <a:ext cx="76808" cy="7680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73876" y="1470356"/>
            <a:ext cx="76808" cy="7680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95160" y="1431036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421892"/>
            <a:ext cx="4434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B87"/>
                </a:solidFill>
                <a:latin typeface="Segoe UI"/>
              </a:rPr>
              <a:t>job-kart.org</a:t>
            </a:r>
          </a:p>
        </p:txBody>
      </p:sp>
      <p:pic>
        <p:nvPicPr>
          <p:cNvPr id="16" name="Picture 15" descr="s3-cand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532120" cy="21277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3640" y="386509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6B87"/>
                </a:solidFill>
                <a:latin typeface="Segoe UI"/>
              </a:rPr>
              <a:t>Candidate dashboard — live stats, tracker &amp; interviews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249146"/>
            <a:ext cx="5532120" cy="1463040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439545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0F1D33"/>
                </a:solidFill>
                <a:latin typeface="Segoe UI"/>
              </a:rPr>
              <a:t>ALSO BUILT 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9672" y="4761210"/>
            <a:ext cx="176562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2563EB"/>
                </a:solidFill>
                <a:latin typeface="Segoe UI"/>
              </a:rPr>
              <a:t>Withdraw application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3311" y="4761210"/>
            <a:ext cx="149296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2563EB"/>
                </a:solidFill>
                <a:latin typeface="Segoe UI"/>
              </a:rPr>
              <a:t>Follow companies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672" y="5181834"/>
            <a:ext cx="12884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0E749C"/>
                </a:solidFill>
                <a:latin typeface="Segoe UI"/>
              </a:rPr>
              <a:t>Avatar upload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6160" y="5181834"/>
            <a:ext cx="142480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0E749C"/>
                </a:solidFill>
                <a:latin typeface="Segoe UI"/>
              </a:rPr>
              <a:t>Deadline alerts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88977" y="5181834"/>
            <a:ext cx="12203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0E749C"/>
                </a:solidFill>
                <a:latin typeface="Segoe UI"/>
              </a:rPr>
              <a:t>Compare jobs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F59E0B"/>
                </a:solidFill>
                <a:latin typeface="Segoe UI"/>
              </a:rPr>
              <a:t>04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PROJECT FUNCTIONALITIES · RECRUITERS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D33"/>
                </a:solidFill>
                <a:latin typeface="Segoe UI"/>
              </a:rPr>
              <a:t>For recruiters — post, screen, schedule and hire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532120" cy="4343400"/>
          </a:xfrm>
          <a:prstGeom prst="roundRect">
            <a:avLst>
              <a:gd name="adj" fmla="val 5500"/>
            </a:avLst>
          </a:prstGeom>
          <a:solidFill>
            <a:srgbClr val="FDF3DF"/>
          </a:solidFill>
          <a:ln w="12700">
            <a:solidFill>
              <a:srgbClr val="F3D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B47406"/>
                </a:solidFill>
                <a:latin typeface="Segoe UI"/>
              </a:rPr>
              <a:t>FOR RECRUITERS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502920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Post &amp; manage jobs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skills, benefits, deadlines &amp; status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Visual pipeline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stage moves with live candidate counts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Candidate screening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search, filters &amp; full profiles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Saved leads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candidates who saved your job but never applied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Interview scheduling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date, validated meeting link &amp; status history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Company branding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mission, gallery, benefits &amp; reviews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Contact inbox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site enquiries stored, recruiters only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Live analytics &amp; chat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charts plus real-time messaging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623560" cy="24934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532120" cy="27432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6404" y="1470356"/>
            <a:ext cx="76808" cy="7680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00140" y="1470356"/>
            <a:ext cx="76808" cy="7680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73876" y="1470356"/>
            <a:ext cx="76808" cy="7680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95160" y="1431036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421892"/>
            <a:ext cx="4434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B87"/>
                </a:solidFill>
                <a:latin typeface="Segoe UI"/>
              </a:rPr>
              <a:t>job-kart.org</a:t>
            </a:r>
          </a:p>
        </p:txBody>
      </p:sp>
      <p:pic>
        <p:nvPicPr>
          <p:cNvPr id="16" name="Picture 15" descr="s3-recru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532120" cy="21277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3640" y="386509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6B87"/>
                </a:solidFill>
                <a:latin typeface="Segoe UI"/>
              </a:rPr>
              <a:t>Recruiter dashboard — pipeline, applicants &amp; 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249146"/>
            <a:ext cx="5532120" cy="1463040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439545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0F1D33"/>
                </a:solidFill>
                <a:latin typeface="Segoe UI"/>
              </a:rPr>
              <a:t>RECRUITER TOOLKIT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9672" y="4761210"/>
            <a:ext cx="11521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B47406"/>
                </a:solidFill>
                <a:latin typeface="Segoe UI"/>
              </a:rPr>
              <a:t>Saved leads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9832" y="4761210"/>
            <a:ext cx="12884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B47406"/>
                </a:solidFill>
                <a:latin typeface="Segoe UI"/>
              </a:rPr>
              <a:t>Contact inbox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6320" y="4761210"/>
            <a:ext cx="108397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B47406"/>
                </a:solidFill>
                <a:latin typeface="Segoe UI"/>
              </a:rPr>
              <a:t>Close 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9672" y="5181834"/>
            <a:ext cx="135663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0E749C"/>
                </a:solidFill>
                <a:latin typeface="Segoe UI"/>
              </a:rPr>
              <a:t>Delete reviews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4325" y="5181834"/>
            <a:ext cx="135663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0E749C"/>
                </a:solidFill>
                <a:latin typeface="Segoe UI"/>
              </a:rPr>
              <a:t>Status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88978" y="5181834"/>
            <a:ext cx="142480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0E749C"/>
                </a:solidFill>
                <a:latin typeface="Segoe UI"/>
              </a:rPr>
              <a:t>Interview links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7C3AED"/>
                </a:solidFill>
                <a:latin typeface="Segoe UI"/>
              </a:rPr>
              <a:t>05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PLATFORM &amp; ENGAGEMENT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D33"/>
                </a:solidFill>
                <a:latin typeface="Segoe UI"/>
              </a:rPr>
              <a:t>Everything between “apply” and “hire”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B87"/>
                </a:solidFill>
                <a:latin typeface="Segoe UI"/>
              </a:rPr>
              <a:t>Realtime, social and messaging primitives that keep both sides coming back — all served by the same JWT-authenticated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55648"/>
            <a:ext cx="2724912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55648"/>
            <a:ext cx="82296" cy="181051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8600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D33"/>
                </a:solidFill>
                <a:latin typeface="Segoe UI"/>
              </a:rPr>
              <a:t>Realtime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761488"/>
            <a:ext cx="231343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87"/>
                </a:solidFill>
                <a:latin typeface="Segoe UI"/>
              </a:rPr>
              <a:t>1:1 messaging with read receipts, presence &amp;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755648"/>
            <a:ext cx="2724912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1755648"/>
            <a:ext cx="82296" cy="1810512"/>
          </a:xfrm>
          <a:prstGeom prst="roundRect">
            <a:avLst>
              <a:gd name="adj" fmla="val 50000"/>
            </a:avLst>
          </a:prstGeom>
          <a:solidFill>
            <a:srgbClr val="0E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1901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49C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8600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D33"/>
                </a:solidFill>
                <a:latin typeface="Segoe UI"/>
              </a:rPr>
              <a:t>Typing indicators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761488"/>
            <a:ext cx="231343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87"/>
                </a:solidFill>
                <a:latin typeface="Segoe UI"/>
              </a:rPr>
              <a:t>live “typing…” state on both sides of the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755648"/>
            <a:ext cx="2724912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1755648"/>
            <a:ext cx="82296" cy="181051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901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C3AED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28600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D33"/>
                </a:solidFill>
                <a:latin typeface="Segoe UI"/>
              </a:rPr>
              <a:t>Notification bell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761488"/>
            <a:ext cx="231343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87"/>
                </a:solidFill>
                <a:latin typeface="Segoe UI"/>
              </a:rPr>
              <a:t>unread counts, mark-one &amp; mark-all-read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1755648"/>
            <a:ext cx="2724912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17152" y="1755648"/>
            <a:ext cx="82296" cy="181051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1901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28600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D33"/>
                </a:solidFill>
                <a:latin typeface="Segoe UI"/>
              </a:rPr>
              <a:t>Follow companies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761488"/>
            <a:ext cx="231343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87"/>
                </a:solidFill>
                <a:latin typeface="Segoe UI"/>
              </a:rPr>
              <a:t>persisted follower lists with live counts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49040"/>
            <a:ext cx="2724912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749040"/>
            <a:ext cx="82296" cy="181051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389534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4279392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D33"/>
                </a:solidFill>
                <a:latin typeface="Segoe UI"/>
              </a:rPr>
              <a:t>Withdraw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754880"/>
            <a:ext cx="231343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87"/>
                </a:solidFill>
                <a:latin typeface="Segoe UI"/>
              </a:rPr>
              <a:t>candidates exit the pipeline themselves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38144" y="3749040"/>
            <a:ext cx="2724912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38144" y="3749040"/>
            <a:ext cx="82296" cy="181051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5888" y="389534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11D48"/>
                </a:solidFill>
                <a:latin typeface="Segoe U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5888" y="4279392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D33"/>
                </a:solidFill>
                <a:latin typeface="Segoe UI"/>
              </a:rPr>
              <a:t>Saved-lead mining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8" y="4754880"/>
            <a:ext cx="231343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87"/>
                </a:solidFill>
                <a:latin typeface="Segoe UI"/>
              </a:rPr>
              <a:t>warm intent from saved-but-not-applied candidates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3749040"/>
            <a:ext cx="2724912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27648" y="3749040"/>
            <a:ext cx="82296" cy="1810512"/>
          </a:xfrm>
          <a:prstGeom prst="roundRect">
            <a:avLst>
              <a:gd name="adj" fmla="val 50000"/>
            </a:avLst>
          </a:prstGeom>
          <a:solidFill>
            <a:srgbClr val="0E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389534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49C"/>
                </a:solidFill>
                <a:latin typeface="Segoe U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4279392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D33"/>
                </a:solidFill>
                <a:latin typeface="Segoe UI"/>
              </a:rPr>
              <a:t>Contact inbox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4754880"/>
            <a:ext cx="231343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87"/>
                </a:solidFill>
                <a:latin typeface="Segoe UI"/>
              </a:rPr>
              <a:t>enquiries persisted in Mongo, gated to recruiters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7152" y="3749040"/>
            <a:ext cx="2724912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17152" y="3749040"/>
            <a:ext cx="82296" cy="1810512"/>
          </a:xfrm>
          <a:prstGeom prst="roundRect">
            <a:avLst>
              <a:gd name="adj" fmla="val 50000"/>
            </a:avLst>
          </a:prstGeom>
          <a:solidFill>
            <a:srgbClr val="11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54896" y="389534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2B55"/>
                </a:solidFill>
                <a:latin typeface="Segoe U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6" y="4279392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D33"/>
                </a:solidFill>
                <a:latin typeface="Segoe UI"/>
              </a:rPr>
              <a:t>Paged &amp; safe search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54896" y="4754880"/>
            <a:ext cx="231343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87"/>
                </a:solidFill>
                <a:latin typeface="Segoe UI"/>
              </a:rPr>
              <a:t>server-side pagination, regex-escaped queries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705856"/>
            <a:ext cx="11091672" cy="566928"/>
          </a:xfrm>
          <a:prstGeom prst="roundRect">
            <a:avLst>
              <a:gd name="adj" fmla="val 32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705856"/>
            <a:ext cx="105430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Always on — deadline enforcement · duplicate-apply blocking · expired listings hidden · role-gated endpoints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563EB"/>
                </a:solidFill>
                <a:latin typeface="Segoe UI"/>
              </a:rPr>
              <a:t>06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METHODOLOGY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D33"/>
                </a:solidFill>
                <a:latin typeface="Segoe UI"/>
              </a:rPr>
              <a:t>Three-tier architecture, secured by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5379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91440" cy="8412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63624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2563EB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65376"/>
            <a:ext cx="6080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A6B87"/>
                </a:solidFill>
                <a:latin typeface="Segoe UI"/>
              </a:rPr>
              <a:t>HTML5 · CSS3 · Vanilla JS · Chart.js · Socket.io · Font Awesome 6 · DM Sans · Dark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05456"/>
            <a:ext cx="65379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505456"/>
            <a:ext cx="91440" cy="841248"/>
          </a:xfrm>
          <a:prstGeom prst="roundRect">
            <a:avLst>
              <a:gd name="adj" fmla="val 50000"/>
            </a:avLst>
          </a:prstGeom>
          <a:solidFill>
            <a:srgbClr val="0E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8775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0E749C"/>
                </a:solidFill>
                <a:latin typeface="Segoe U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889504"/>
            <a:ext cx="6080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A6B87"/>
                </a:solidFill>
                <a:latin typeface="Segoe UI"/>
              </a:rPr>
              <a:t>Node.js · Express.js 5 · Socket.io · JWT · bcryptjs · multer · pdfjs-dist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9584"/>
            <a:ext cx="65379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529584"/>
            <a:ext cx="91440" cy="8412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611880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10B981"/>
                </a:solidFill>
                <a:latin typeface="Segoe U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913632"/>
            <a:ext cx="6080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A6B87"/>
                </a:solidFill>
                <a:latin typeface="Segoe UI"/>
              </a:rPr>
              <a:t>MongoDB Atlas · Mongoose ODM · 8 collections · aggregation pipelines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53712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F1D33"/>
                </a:solidFill>
                <a:latin typeface="Segoe UI"/>
              </a:rPr>
              <a:t>METHODOLOGY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4507992"/>
            <a:ext cx="176562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2563EB"/>
                </a:solidFill>
                <a:latin typeface="Segoe UI"/>
              </a:rPr>
              <a:t>Requirement Analysis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216215" y="4645152"/>
            <a:ext cx="146304" cy="36576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25359" y="4507992"/>
            <a:ext cx="12203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7C3AED"/>
                </a:solidFill>
                <a:latin typeface="Segoe UI"/>
              </a:rPr>
              <a:t>UI/UX Design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564539" y="4645152"/>
            <a:ext cx="146304" cy="36576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73683" y="4507992"/>
            <a:ext cx="142480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0E749C"/>
                </a:solidFill>
                <a:latin typeface="Segoe UI"/>
              </a:rPr>
              <a:t>API Development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17356" y="4645152"/>
            <a:ext cx="146304" cy="36576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26500" y="4507992"/>
            <a:ext cx="183378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F59E0B"/>
                </a:solidFill>
                <a:latin typeface="Segoe UI"/>
              </a:rPr>
              <a:t>Integration &amp; Testing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79159" y="4645152"/>
            <a:ext cx="146304" cy="36576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88303" y="4507992"/>
            <a:ext cx="108397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56048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F1D33"/>
                </a:solidFill>
                <a:latin typeface="Segoe UI"/>
              </a:rPr>
              <a:t>SECURITY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4910328"/>
            <a:ext cx="1356637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bcrypt hashing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6373" y="4910328"/>
            <a:ext cx="1561130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JWT + socket auth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05519" y="4910328"/>
            <a:ext cx="1561130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role-based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94665" y="4910328"/>
            <a:ext cx="1424801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output encoding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7482" y="4910328"/>
            <a:ext cx="1288472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rate limiting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4924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458968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00">
                <a:solidFill>
                  <a:srgbClr val="0F1D33"/>
                </a:solidFill>
                <a:latin typeface="Segoe UI"/>
              </a:rPr>
              <a:t>REQUEST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477256"/>
            <a:ext cx="7452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A6B87"/>
                </a:solidFill>
                <a:latin typeface="Segoe UI"/>
              </a:rPr>
              <a:t>Auth: login → bcrypt verify → signed JWT → role-gated REST + authenticated sockets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" y="5733288"/>
            <a:ext cx="1938528" cy="548640"/>
          </a:xfrm>
          <a:prstGeom prst="roundRect">
            <a:avLst>
              <a:gd name="adj" fmla="val 16000"/>
            </a:avLst>
          </a:prstGeom>
          <a:solidFill>
            <a:srgbClr val="11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797296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Client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6016752"/>
            <a:ext cx="1938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7E4FF"/>
                </a:solidFill>
                <a:latin typeface="Segoe UI"/>
              </a:rPr>
              <a:t>browser · fetch API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779776" y="5983834"/>
            <a:ext cx="182880" cy="47548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999232" y="5733288"/>
            <a:ext cx="1938528" cy="54864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9232" y="5797296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Express.js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6016752"/>
            <a:ext cx="1938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7E4FF"/>
                </a:solidFill>
                <a:latin typeface="Segoe UI"/>
              </a:rPr>
              <a:t>49 endpoints · middleware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974336" y="5983834"/>
            <a:ext cx="182880" cy="47548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193792" y="5733288"/>
            <a:ext cx="1938528" cy="54864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93792" y="5797296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Auth &amp; realtime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3792" y="6016752"/>
            <a:ext cx="1938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4DCFC"/>
                </a:solidFill>
                <a:latin typeface="Segoe UI"/>
              </a:rPr>
              <a:t>JWT · Socket.io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7168896" y="5983834"/>
            <a:ext cx="182880" cy="47548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88352" y="5733288"/>
            <a:ext cx="1938528" cy="548640"/>
          </a:xfrm>
          <a:prstGeom prst="roundRect">
            <a:avLst>
              <a:gd name="adj" fmla="val 16000"/>
            </a:avLst>
          </a:prstGeom>
          <a:solidFill>
            <a:srgbClr val="0E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88352" y="5797296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Mongoose ODM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8352" y="6016752"/>
            <a:ext cx="1938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9E8F3"/>
                </a:solidFill>
                <a:latin typeface="Segoe UI"/>
              </a:rPr>
              <a:t>models &amp; schemas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9363456" y="5983834"/>
            <a:ext cx="182880" cy="47548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582912" y="5733288"/>
            <a:ext cx="1938528" cy="54864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82912" y="5797296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MongoDB Atlas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82912" y="6016752"/>
            <a:ext cx="1938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F2E4"/>
                </a:solidFill>
                <a:latin typeface="Segoe UI"/>
              </a:rPr>
              <a:t>8 collections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7C3AED"/>
                </a:solidFill>
                <a:latin typeface="Segoe UI"/>
              </a:rPr>
              <a:t>07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SECURITY &amp; DATA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D33"/>
                </a:solidFill>
                <a:latin typeface="Segoe UI"/>
              </a:rPr>
              <a:t>Secured at every layer — not just at 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532120" cy="3566160"/>
          </a:xfrm>
          <a:prstGeom prst="roundRect">
            <a:avLst>
              <a:gd name="adj" fmla="val 5500"/>
            </a:avLst>
          </a:prstGeom>
          <a:solidFill>
            <a:srgbClr val="EAF1FE"/>
          </a:solidFill>
          <a:ln w="12700">
            <a:solidFill>
              <a:srgbClr val="C7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2563EB"/>
                </a:solidFill>
                <a:latin typeface="Segoe UI"/>
              </a:rPr>
              <a:t>AUTHENTICATION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50292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Candidate-only registration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recruiter accounts provisioned by the administrator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JWT everywhere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REST headers plus the socket handshake; invalid tokens rejected at connect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Role gates per route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candidate-only and recruiter-only endpoints enforced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Ownership checks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conversations, applications, inbox &amp; reviews verified per user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Rate-limited auth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login and registration throttled against brute force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Bcrypt hashing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credentials stored as salted hashes, never plaintext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532120" cy="3566160"/>
          </a:xfrm>
          <a:prstGeom prst="roundRect">
            <a:avLst>
              <a:gd name="adj" fmla="val 5500"/>
            </a:avLst>
          </a:prstGeom>
          <a:solidFill>
            <a:srgbClr val="F1ECFE"/>
          </a:solidFill>
          <a:ln w="12700">
            <a:solidFill>
              <a:srgbClr val="DDD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7C3AED"/>
                </a:solidFill>
                <a:latin typeface="Segoe UI"/>
              </a:rPr>
              <a:t>VALIDATION &amp; DATA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75104"/>
            <a:ext cx="50292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800" b="1" i="0">
                <a:solidFill>
                  <a:srgbClr val="7C3AED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Output encoding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user text escaped before it reaches the DOM (XSS)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800" b="1" i="0">
                <a:solidFill>
                  <a:srgbClr val="7C3AED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Safe links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interview URLs restricted to http:// and https://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800" b="1" i="0">
                <a:solidFill>
                  <a:srgbClr val="7C3AED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Review integrity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1–5 rating validation, one review per user, recomputed aggregates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800" b="1" i="0">
                <a:solidFill>
                  <a:srgbClr val="7C3AED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Deadline enforcement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expired postings hidden, late applications rejected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1" i="0">
                <a:solidFill>
                  <a:srgbClr val="7C3AED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Input hygiene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regex-escaped search, ObjectId guards, length limits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C3AED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0F1D33"/>
                </a:solidFill>
                <a:latin typeface="Segoe UI"/>
              </a:rPr>
              <a:t>Duplicate guards  </a:t>
            </a:r>
            <a:r>
              <a:rPr sz="950" b="0" i="0">
                <a:solidFill>
                  <a:srgbClr val="5A6B87"/>
                </a:solidFill>
                <a:latin typeface="Segoe UI"/>
              </a:rPr>
              <a:t>— one application per job, one review per company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30368"/>
            <a:ext cx="11091672" cy="786384"/>
          </a:xfrm>
          <a:prstGeom prst="roundRect">
            <a:avLst>
              <a:gd name="adj" fmla="val 20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10424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00">
                <a:solidFill>
                  <a:srgbClr val="F59E0B"/>
                </a:solidFill>
                <a:latin typeface="Segoe UI"/>
              </a:rPr>
              <a:t>VERIFIED IN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632704"/>
            <a:ext cx="2085995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950" b="1" i="0">
                <a:solidFill>
                  <a:srgbClr val="BFD3F5"/>
                </a:solidFill>
                <a:latin typeface="Segoe UI"/>
              </a:rPr>
              <a:t>anonymous sockets 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2691" y="5632704"/>
            <a:ext cx="2280264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950" b="1" i="0">
                <a:solidFill>
                  <a:srgbClr val="BFD3F5"/>
                </a:solidFill>
                <a:latin typeface="Segoe UI"/>
              </a:rPr>
              <a:t>cross-role probes → 401 / 403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90971" y="5632704"/>
            <a:ext cx="2280264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950" b="1" i="0">
                <a:solidFill>
                  <a:srgbClr val="BFD3F5"/>
                </a:solidFill>
                <a:latin typeface="Segoe UI"/>
              </a:rPr>
              <a:t>duplicate application blocked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9251" y="5632704"/>
            <a:ext cx="2280264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950" b="1" i="0">
                <a:solidFill>
                  <a:srgbClr val="BFD3F5"/>
                </a:solidFill>
                <a:latin typeface="Segoe UI"/>
              </a:rPr>
              <a:t>XSS payloads rendered as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F59E0B"/>
                </a:solidFill>
                <a:latin typeface="Segoe UI"/>
              </a:rPr>
              <a:t>08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D33"/>
                </a:solidFill>
                <a:latin typeface="Segoe UI"/>
              </a:rPr>
              <a:t>Outputs achieved — a working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487168" cy="120700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63EB"/>
                </a:solidFill>
                <a:latin typeface="Segoe UI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B87"/>
                </a:solidFill>
                <a:latin typeface="Segoe UI"/>
              </a:rPr>
              <a:t>REST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1463040"/>
            <a:ext cx="2487168" cy="120700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5264" y="1572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B981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4" y="2212848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B87"/>
                </a:solidFill>
                <a:latin typeface="Segoe UI"/>
              </a:rPr>
              <a:t>data collections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463040"/>
            <a:ext cx="2487168" cy="120700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572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749C"/>
                </a:solidFill>
                <a:latin typeface="Segoe UI"/>
              </a:rPr>
              <a:t>20k+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212848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B87"/>
                </a:solidFill>
                <a:latin typeface="Segoe UI"/>
              </a:rPr>
              <a:t>lines of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68512" y="1463040"/>
            <a:ext cx="2487168" cy="120700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1572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9E0B"/>
                </a:solidFill>
                <a:latin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2212848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B87"/>
                </a:solidFill>
                <a:latin typeface="Segoe UI"/>
              </a:rPr>
              <a:t>responsive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992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0F1D33"/>
                </a:solidFill>
                <a:latin typeface="Segoe UI"/>
              </a:rPr>
              <a:t>DEMONSTRATED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64992"/>
            <a:ext cx="56235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End-to-end hiring loop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post, apply, screen, schedule &amp; hire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ATS resume scanner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PDF parsing, resume score &amp; job-fit ranking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Real-time collaboration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chat, typing, presence &amp; read receipts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Rich company pages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7 companies, culture pages &amp; verified reviews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Engagement engine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follows, withdrawals &amp; warm saved leads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Analytics dashboards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Chart.js visuals for both roles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990088"/>
            <a:ext cx="5166360" cy="23176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3035808"/>
            <a:ext cx="5074920" cy="27432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00724" y="3134564"/>
            <a:ext cx="76808" cy="7680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74460" y="3134564"/>
            <a:ext cx="76808" cy="7680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8196" y="3134564"/>
            <a:ext cx="76808" cy="7680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095244"/>
            <a:ext cx="411480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3086100"/>
            <a:ext cx="3977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B87"/>
                </a:solidFill>
                <a:latin typeface="Segoe UI"/>
              </a:rPr>
              <a:t>job-kart.org</a:t>
            </a:r>
          </a:p>
        </p:txBody>
      </p:sp>
      <p:pic>
        <p:nvPicPr>
          <p:cNvPr id="27" name="Picture 26" descr="s6-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310128"/>
            <a:ext cx="5074920" cy="19518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37960" y="537174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6B87"/>
                </a:solidFill>
                <a:latin typeface="Segoe UI"/>
              </a:rPr>
              <a:t>ATS scanner — resume score, fixes &amp; live job-fit 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26480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F1D33"/>
                </a:solidFill>
                <a:latin typeface="Segoe UI"/>
              </a:rPr>
              <a:t>ALSO VERIFIED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6071616"/>
            <a:ext cx="1901952" cy="31089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2563EB"/>
                </a:solidFill>
                <a:latin typeface="Segoe UI"/>
              </a:rPr>
              <a:t>Authenticated realtime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58768" y="6071616"/>
            <a:ext cx="1697458" cy="31089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Mobile-first layout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84242" y="6071616"/>
            <a:ext cx="1424801" cy="31089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0E749C"/>
                </a:solidFill>
                <a:latin typeface="Segoe UI"/>
              </a:rPr>
              <a:t>Zero build 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99855" y="-2743200"/>
            <a:ext cx="4389120" cy="4389120"/>
          </a:xfrm>
          <a:prstGeom prst="ellipse">
            <a:avLst/>
          </a:prstGeom>
          <a:solidFill>
            <a:srgbClr val="16356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651760" y="5394960"/>
            <a:ext cx="3840480" cy="3840480"/>
          </a:xfrm>
          <a:prstGeom prst="ellipse">
            <a:avLst/>
          </a:prstGeom>
          <a:solidFill>
            <a:srgbClr val="2563E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563EB"/>
                </a:solidFill>
                <a:latin typeface="Segoe UI"/>
              </a:rPr>
              <a:t>09  </a:t>
            </a:r>
            <a:r>
              <a:rPr sz="1200" b="1" i="0" spc="200">
                <a:solidFill>
                  <a:srgbClr val="5B9BF5"/>
                </a:solidFill>
                <a:latin typeface="Segoe UI"/>
              </a:rPr>
              <a:t>—  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Where the project stands — and where it goes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532120" cy="3794760"/>
          </a:xfrm>
          <a:prstGeom prst="roundRect">
            <a:avLst>
              <a:gd name="adj" fmla="val 5500"/>
            </a:avLst>
          </a:prstGeom>
          <a:solidFill>
            <a:srgbClr val="112B55"/>
          </a:solidFill>
          <a:ln w="1270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5B9BF5"/>
                </a:solidFill>
                <a:latin typeface="Segoe U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48256"/>
            <a:ext cx="502920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Fully functional platform  </a:t>
            </a:r>
            <a:r>
              <a:rPr sz="950" b="0" i="0">
                <a:solidFill>
                  <a:srgbClr val="5B9BF5"/>
                </a:solidFill>
                <a:latin typeface="Segoe UI"/>
              </a:rPr>
              <a:t>— every core flow works end-to-end on live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Both journeys served  </a:t>
            </a:r>
            <a:r>
              <a:rPr sz="950" b="0" i="0">
                <a:solidFill>
                  <a:srgbClr val="5B9BF5"/>
                </a:solidFill>
                <a:latin typeface="Segoe UI"/>
              </a:rPr>
              <a:t>— candidates track applications; recruiters manage a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Resume intelligence  </a:t>
            </a:r>
            <a:r>
              <a:rPr sz="950" b="0" i="0">
                <a:solidFill>
                  <a:srgbClr val="5B9BF5"/>
                </a:solidFill>
                <a:latin typeface="Segoe UI"/>
              </a:rPr>
              <a:t>— PDF parsing, ATS scoring &amp; job-fit matching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Real-time collaboration  </a:t>
            </a:r>
            <a:r>
              <a:rPr sz="950" b="0" i="0">
                <a:solidFill>
                  <a:srgbClr val="5B9BF5"/>
                </a:solidFill>
                <a:latin typeface="Segoe UI"/>
              </a:rPr>
              <a:t>— chat, typing, presence, read receipts &amp; alerts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Security-first stack  </a:t>
            </a:r>
            <a:r>
              <a:rPr sz="950" b="0" i="0">
                <a:solidFill>
                  <a:srgbClr val="5B9BF5"/>
                </a:solidFill>
                <a:latin typeface="Segoe UI"/>
              </a:rPr>
              <a:t>— JWT + socket auth, ownership checks &amp; rate limiting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Lean by design  </a:t>
            </a:r>
            <a:r>
              <a:rPr sz="950" b="0" i="0">
                <a:solidFill>
                  <a:srgbClr val="5B9BF5"/>
                </a:solidFill>
                <a:latin typeface="Segoe UI"/>
              </a:rPr>
              <a:t>— framework-free frontend: zero build step, instant deploys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81328"/>
            <a:ext cx="5532120" cy="3794760"/>
          </a:xfrm>
          <a:prstGeom prst="roundRect">
            <a:avLst>
              <a:gd name="adj" fmla="val 5500"/>
            </a:avLst>
          </a:prstGeom>
          <a:solidFill>
            <a:srgbClr val="163566"/>
          </a:solidFill>
          <a:ln w="12700">
            <a:solidFill>
              <a:srgbClr val="3A5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64208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F59E0B"/>
                </a:solidFill>
                <a:latin typeface="Segoe UI"/>
              </a:rPr>
              <a:t>FUTURE ENHANCEMENTS</a:t>
            </a:r>
          </a:p>
        </p:txBody>
      </p:sp>
      <p:sp>
        <p:nvSpPr>
          <p:cNvPr id="12" name="Oval 11"/>
          <p:cNvSpPr/>
          <p:nvPr/>
        </p:nvSpPr>
        <p:spPr>
          <a:xfrm>
            <a:off x="6574536" y="211226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210312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Email &amp; push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234086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DC2E4"/>
                </a:solidFill>
                <a:latin typeface="Segoe UI"/>
              </a:rPr>
              <a:t>notify candidates outside the in-app bell</a:t>
            </a:r>
          </a:p>
        </p:txBody>
      </p:sp>
      <p:sp>
        <p:nvSpPr>
          <p:cNvPr id="15" name="Oval 14"/>
          <p:cNvSpPr/>
          <p:nvPr/>
        </p:nvSpPr>
        <p:spPr>
          <a:xfrm>
            <a:off x="6574536" y="271576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6872" y="27066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AI-assisted screening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94436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DC2E4"/>
                </a:solidFill>
                <a:latin typeface="Segoe UI"/>
              </a:rPr>
              <a:t>LLM ranking beyond rule-based ATS scores</a:t>
            </a:r>
          </a:p>
        </p:txBody>
      </p:sp>
      <p:sp>
        <p:nvSpPr>
          <p:cNvPr id="18" name="Oval 17"/>
          <p:cNvSpPr/>
          <p:nvPr/>
        </p:nvSpPr>
        <p:spPr>
          <a:xfrm>
            <a:off x="6574536" y="3319272"/>
            <a:ext cx="292608" cy="292608"/>
          </a:xfrm>
          <a:prstGeom prst="ellipse">
            <a:avLst/>
          </a:prstGeom>
          <a:solidFill>
            <a:srgbClr val="0E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31012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Admin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54787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DC2E4"/>
                </a:solidFill>
                <a:latin typeface="Segoe UI"/>
              </a:rPr>
              <a:t>company and posting approval workflow</a:t>
            </a:r>
          </a:p>
        </p:txBody>
      </p:sp>
      <p:sp>
        <p:nvSpPr>
          <p:cNvPr id="21" name="Oval 20"/>
          <p:cNvSpPr/>
          <p:nvPr/>
        </p:nvSpPr>
        <p:spPr>
          <a:xfrm>
            <a:off x="6574536" y="392277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391363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Multi-recruiter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4151376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DC2E4"/>
                </a:solidFill>
                <a:latin typeface="Segoe UI"/>
              </a:rPr>
              <a:t>per-company workspaces, roles &amp; permissions</a:t>
            </a:r>
          </a:p>
        </p:txBody>
      </p:sp>
      <p:sp>
        <p:nvSpPr>
          <p:cNvPr id="24" name="Oval 23"/>
          <p:cNvSpPr/>
          <p:nvPr/>
        </p:nvSpPr>
        <p:spPr>
          <a:xfrm>
            <a:off x="6574536" y="452628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4517136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PWA mobile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7548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DC2E4"/>
                </a:solidFill>
                <a:latin typeface="Segoe UI"/>
              </a:rPr>
              <a:t>installable experience with offline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715000"/>
            <a:ext cx="94484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Thank you</a:t>
            </a:r>
            <a:r>
              <a:rPr sz="1400" b="0" i="1">
                <a:solidFill>
                  <a:srgbClr val="9FB4D8"/>
                </a:solidFill>
                <a:latin typeface="Segoe UI"/>
              </a:rPr>
              <a:t>  ·  Questions welcome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Segoe UI"/>
              </a:rPr>
              <a:t>JOB</a:t>
            </a:r>
            <a:r>
              <a:rPr sz="1000" b="1" i="0">
                <a:solidFill>
                  <a:srgbClr val="5B9BF5"/>
                </a:solidFill>
                <a:latin typeface="Segoe UI"/>
              </a:rPr>
              <a:t>·</a:t>
            </a:r>
            <a:r>
              <a:rPr sz="1000" b="1" i="0" spc="300">
                <a:solidFill>
                  <a:srgbClr val="FFFFFF"/>
                </a:solidFill>
                <a:latin typeface="Segoe UI"/>
              </a:rPr>
              <a:t>KART</a:t>
            </a:r>
            <a:r>
              <a:rPr sz="900" b="0" i="1">
                <a:solidFill>
                  <a:srgbClr val="5B9BF5"/>
                </a:solidFill>
                <a:latin typeface="Segoe UI"/>
              </a:rPr>
              <a:t>   |   Empowering Careers, Simplifying Hiring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B9BF5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