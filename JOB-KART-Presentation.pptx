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16975" y="-2926080"/>
            <a:ext cx="4754880" cy="4754880"/>
          </a:xfrm>
          <a:prstGeom prst="ellipse">
            <a:avLst/>
          </a:prstGeom>
          <a:solidFill>
            <a:srgbClr val="16356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017520" y="5029200"/>
            <a:ext cx="4389120" cy="4389120"/>
          </a:xfrm>
          <a:prstGeom prst="ellipse">
            <a:avLst/>
          </a:prstGeom>
          <a:solidFill>
            <a:srgbClr val="16356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99855" y="6126480"/>
            <a:ext cx="2743200" cy="2743200"/>
          </a:xfrm>
          <a:prstGeom prst="ellipse">
            <a:avLst/>
          </a:prstGeom>
          <a:solidFill>
            <a:srgbClr val="2563EB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566928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300">
                <a:solidFill>
                  <a:srgbClr val="5B9BF5"/>
                </a:solidFill>
                <a:latin typeface="Segoe UI"/>
              </a:rPr>
              <a:t>FULL-STACK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61264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>
                <a:solidFill>
                  <a:srgbClr val="FFFFFF"/>
                </a:solidFill>
                <a:latin typeface="Segoe UI"/>
              </a:rPr>
              <a:t>JOB</a:t>
            </a:r>
            <a:r>
              <a:rPr sz="5800" b="1" i="0">
                <a:solidFill>
                  <a:srgbClr val="5B9BF5"/>
                </a:solidFill>
                <a:latin typeface="Segoe UI"/>
              </a:rPr>
              <a:t>·</a:t>
            </a:r>
            <a:r>
              <a:rPr sz="5800" b="1" i="0">
                <a:solidFill>
                  <a:srgbClr val="FFFFFF"/>
                </a:solidFill>
                <a:latin typeface="Segoe UI"/>
              </a:rPr>
              <a:t>KART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029968"/>
            <a:ext cx="5852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1">
                <a:solidFill>
                  <a:srgbClr val="5B9BF5"/>
                </a:solidFill>
                <a:latin typeface="Segoe UI"/>
              </a:rPr>
              <a:t>Empowering Careers, Simplifying Hiring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487168"/>
            <a:ext cx="5760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9D6EE"/>
                </a:solidFill>
                <a:latin typeface="Segoe UI"/>
              </a:rPr>
              <a:t>A full-stack job-portal platform connecting verified talent with India's top employers — built on the MERN-style stack.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" y="3401568"/>
            <a:ext cx="903344" cy="310896"/>
          </a:xfrm>
          <a:prstGeom prst="roundRect">
            <a:avLst>
              <a:gd name="adj" fmla="val 50000"/>
            </a:avLst>
          </a:prstGeom>
          <a:solidFill>
            <a:srgbClr val="163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50" b="1" i="0">
                <a:solidFill>
                  <a:srgbClr val="BFD3F5"/>
                </a:solidFill>
                <a:latin typeface="Segoe UI"/>
              </a:rPr>
              <a:t>MongoDB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07432" y="3401568"/>
            <a:ext cx="1261206" cy="310896"/>
          </a:xfrm>
          <a:prstGeom prst="roundRect">
            <a:avLst>
              <a:gd name="adj" fmla="val 50000"/>
            </a:avLst>
          </a:prstGeom>
          <a:solidFill>
            <a:srgbClr val="163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50" b="1" i="0">
                <a:solidFill>
                  <a:srgbClr val="BFD3F5"/>
                </a:solidFill>
                <a:latin typeface="Segoe UI"/>
              </a:rPr>
              <a:t>Express.js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96654" y="3401568"/>
            <a:ext cx="903344" cy="310896"/>
          </a:xfrm>
          <a:prstGeom prst="roundRect">
            <a:avLst>
              <a:gd name="adj" fmla="val 50000"/>
            </a:avLst>
          </a:prstGeom>
          <a:solidFill>
            <a:srgbClr val="163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50" b="1" i="0">
                <a:solidFill>
                  <a:srgbClr val="BFD3F5"/>
                </a:solidFill>
                <a:latin typeface="Segoe UI"/>
              </a:rPr>
              <a:t>Node.js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8014" y="3401568"/>
            <a:ext cx="974916" cy="310896"/>
          </a:xfrm>
          <a:prstGeom prst="roundRect">
            <a:avLst>
              <a:gd name="adj" fmla="val 50000"/>
            </a:avLst>
          </a:prstGeom>
          <a:solidFill>
            <a:srgbClr val="163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50" b="1" i="0">
                <a:solidFill>
                  <a:srgbClr val="BFD3F5"/>
                </a:solidFill>
                <a:latin typeface="Segoe UI"/>
              </a:rPr>
              <a:t>JWT Auth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30946" y="3401568"/>
            <a:ext cx="1118061" cy="310896"/>
          </a:xfrm>
          <a:prstGeom prst="roundRect">
            <a:avLst>
              <a:gd name="adj" fmla="val 50000"/>
            </a:avLst>
          </a:prstGeom>
          <a:solidFill>
            <a:srgbClr val="163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50" b="1" i="0">
                <a:solidFill>
                  <a:srgbClr val="BFD3F5"/>
                </a:solidFill>
                <a:latin typeface="Segoe UI"/>
              </a:rPr>
              <a:t>Vanilla 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4133087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300">
                <a:solidFill>
                  <a:srgbClr val="8FA6CB"/>
                </a:solidFill>
                <a:latin typeface="Segoe UI"/>
              </a:rPr>
              <a:t>PRESENTED BY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498848"/>
            <a:ext cx="2743200" cy="969264"/>
          </a:xfrm>
          <a:prstGeom prst="roundRect">
            <a:avLst>
              <a:gd name="adj" fmla="val 10000"/>
            </a:avLst>
          </a:prstGeom>
          <a:solidFill>
            <a:srgbClr val="112B55"/>
          </a:solidFill>
          <a:ln w="12700">
            <a:solidFill>
              <a:srgbClr val="2E4C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4944" y="4745736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4864608"/>
            <a:ext cx="475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TM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4663440"/>
            <a:ext cx="1920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Tusar Kumar Mahakud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504748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spc="100">
                <a:solidFill>
                  <a:srgbClr val="5B9BF5"/>
                </a:solidFill>
                <a:latin typeface="Segoe UI"/>
              </a:rPr>
              <a:t>Regd No. 2301289131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74136" y="4498848"/>
            <a:ext cx="2743200" cy="969264"/>
          </a:xfrm>
          <a:prstGeom prst="roundRect">
            <a:avLst>
              <a:gd name="adj" fmla="val 10000"/>
            </a:avLst>
          </a:prstGeom>
          <a:solidFill>
            <a:srgbClr val="112B55"/>
          </a:solidFill>
          <a:ln w="12700">
            <a:solidFill>
              <a:srgbClr val="2E4C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20440" y="4745736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4864608"/>
            <a:ext cx="475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SP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87368" y="4663440"/>
            <a:ext cx="1920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Swadhin Panigrahi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87368" y="504748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spc="100">
                <a:solidFill>
                  <a:srgbClr val="5B9BF5"/>
                </a:solidFill>
                <a:latin typeface="Segoe UI"/>
              </a:rPr>
              <a:t>Regd No. 2301289125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9632" y="4498848"/>
            <a:ext cx="2743200" cy="969264"/>
          </a:xfrm>
          <a:prstGeom prst="roundRect">
            <a:avLst>
              <a:gd name="adj" fmla="val 10000"/>
            </a:avLst>
          </a:prstGeom>
          <a:solidFill>
            <a:srgbClr val="112B55"/>
          </a:solidFill>
          <a:ln w="12700">
            <a:solidFill>
              <a:srgbClr val="2E4C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4745736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4864608"/>
            <a:ext cx="475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TK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2864" y="4663440"/>
            <a:ext cx="1920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Tannu Kumari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12864" y="504748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spc="100">
                <a:solidFill>
                  <a:srgbClr val="5B9BF5"/>
                </a:solidFill>
                <a:latin typeface="Segoe UI"/>
              </a:rPr>
              <a:t>Regd No. 2301289130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25128" y="4498848"/>
            <a:ext cx="2743200" cy="969264"/>
          </a:xfrm>
          <a:prstGeom prst="roundRect">
            <a:avLst>
              <a:gd name="adj" fmla="val 10000"/>
            </a:avLst>
          </a:prstGeom>
          <a:solidFill>
            <a:srgbClr val="112B55"/>
          </a:solidFill>
          <a:ln w="12700">
            <a:solidFill>
              <a:srgbClr val="2E4C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71432" y="4745736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71432" y="4864608"/>
            <a:ext cx="475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60" y="4663440"/>
            <a:ext cx="1920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Subhrakant Senapati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60" y="504748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spc="100">
                <a:solidFill>
                  <a:srgbClr val="5B9BF5"/>
                </a:solidFill>
                <a:latin typeface="Segoe UI"/>
              </a:rPr>
              <a:t>Regd No. 2301289122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00">
                <a:solidFill>
                  <a:srgbClr val="8FA6CB"/>
                </a:solidFill>
                <a:latin typeface="Segoe UI"/>
              </a:rPr>
              <a:t>Guide: —   ·   Session 2024–26   ·   2026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75120" y="594360"/>
            <a:ext cx="5074920" cy="348043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720840" y="640080"/>
            <a:ext cx="4983480" cy="274320"/>
          </a:xfrm>
          <a:prstGeom prst="roundRect">
            <a:avLst>
              <a:gd name="adj" fmla="val 50000"/>
            </a:avLst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883604" y="738836"/>
            <a:ext cx="76808" cy="76808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057340" y="738836"/>
            <a:ext cx="76808" cy="76808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231076" y="738836"/>
            <a:ext cx="76808" cy="76808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452360" y="699516"/>
            <a:ext cx="4023360" cy="1554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43800" y="690372"/>
            <a:ext cx="3886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B87"/>
                </a:solidFill>
                <a:latin typeface="Segoe UI"/>
              </a:rPr>
              <a:t>job-kart.org</a:t>
            </a:r>
          </a:p>
        </p:txBody>
      </p:sp>
      <p:pic>
        <p:nvPicPr>
          <p:cNvPr id="44" name="Picture 43" descr="01-home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914400"/>
            <a:ext cx="4983480" cy="3114675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6227064" y="2724912"/>
            <a:ext cx="1499616" cy="3096299"/>
          </a:xfrm>
          <a:prstGeom prst="roundRect">
            <a:avLst>
              <a:gd name="adj" fmla="val 12000"/>
            </a:avLst>
          </a:prstGeom>
          <a:solidFill>
            <a:srgbClr val="163566"/>
          </a:solidFill>
          <a:ln w="15240">
            <a:solidFill>
              <a:srgbClr val="2E4C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13-mobile-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2788920"/>
            <a:ext cx="1371600" cy="2968283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035040" y="5866931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9FB4D8"/>
                </a:solidFill>
                <a:latin typeface="Segoe UI"/>
              </a:rPr>
              <a:t>Mobile-first UX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20095" y="6446520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 spc="100">
                <a:solidFill>
                  <a:srgbClr val="5B9BF5"/>
                </a:solidFill>
                <a:latin typeface="Segoe UI"/>
              </a:rP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2563EB"/>
                </a:solidFill>
                <a:latin typeface="Segoe UI"/>
              </a:rPr>
              <a:t>01  </a:t>
            </a:r>
            <a:r>
              <a:rPr sz="1200" b="1" i="0" spc="200">
                <a:solidFill>
                  <a:srgbClr val="5A6B87"/>
                </a:solidFill>
                <a:latin typeface="Segoe UI"/>
              </a:rPr>
              <a:t>—  PROBLEM STATEMENT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6949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F1D33"/>
                </a:solidFill>
                <a:latin typeface="Segoe UI"/>
              </a:rPr>
              <a:t>Hiring is fragmented, opaque and slow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6858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5A6B87"/>
                </a:solidFill>
                <a:latin typeface="Segoe UI"/>
              </a:rPr>
              <a:t>Motivation: students chase scattered postings while recruiters juggle spreadsheets — JOB·KART was built to fix both sides of this broken loop.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31012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82296" cy="202996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47672"/>
            <a:ext cx="2852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563EB"/>
                </a:solidFill>
                <a:latin typeface="Segoe UI"/>
              </a:rPr>
              <a:t>⌖  </a:t>
            </a:r>
            <a:r>
              <a:rPr sz="1450" b="1" i="0">
                <a:solidFill>
                  <a:srgbClr val="0F1D33"/>
                </a:solidFill>
                <a:latin typeface="Segoe UI"/>
              </a:rPr>
              <a:t>Scattered Listings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86584"/>
            <a:ext cx="2834640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A6B87"/>
                </a:solidFill>
                <a:latin typeface="Segoe UI"/>
              </a:rPr>
              <a:t>Openings are spread across dozens of boards and groups — no single, verified source of truth for job seekers.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33088" y="1783080"/>
            <a:ext cx="331012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33088" y="1783080"/>
            <a:ext cx="82296" cy="2029968"/>
          </a:xfrm>
          <a:prstGeom prst="roundRect">
            <a:avLst>
              <a:gd name="adj" fmla="val 50000"/>
            </a:avLst>
          </a:prstGeom>
          <a:solidFill>
            <a:srgbClr val="5B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947672"/>
            <a:ext cx="2852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B9BF5"/>
                </a:solidFill>
                <a:latin typeface="Segoe UI"/>
              </a:rPr>
              <a:t>?  </a:t>
            </a:r>
            <a:r>
              <a:rPr sz="1450" b="1" i="0">
                <a:solidFill>
                  <a:srgbClr val="0F1D33"/>
                </a:solidFill>
                <a:latin typeface="Segoe UI"/>
              </a:rPr>
              <a:t>Zero Transparency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86584"/>
            <a:ext cx="2834640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A6B87"/>
                </a:solidFill>
                <a:latin typeface="Segoe UI"/>
              </a:rPr>
              <a:t>Candidates apply into a void: no status, no timeline, no feedback loop after clicking apply.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50792"/>
            <a:ext cx="331012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4050792"/>
            <a:ext cx="82296" cy="202996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215384"/>
            <a:ext cx="2852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9E0B"/>
                </a:solidFill>
                <a:latin typeface="Segoe UI"/>
              </a:rPr>
              <a:t>≡  </a:t>
            </a:r>
            <a:r>
              <a:rPr sz="1450" b="1" i="0">
                <a:solidFill>
                  <a:srgbClr val="0F1D33"/>
                </a:solidFill>
                <a:latin typeface="Segoe UI"/>
              </a:rPr>
              <a:t>Manual Screening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654296"/>
            <a:ext cx="2834640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A6B87"/>
                </a:solidFill>
                <a:latin typeface="Segoe UI"/>
              </a:rPr>
              <a:t>Recruiters drown in unstructured CVs and spreadsheets, tracking who is applied, shortlisted or hired.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33088" y="4050792"/>
            <a:ext cx="331012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33088" y="4050792"/>
            <a:ext cx="82296" cy="202996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4215384"/>
            <a:ext cx="2852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B981"/>
                </a:solidFill>
                <a:latin typeface="Segoe UI"/>
              </a:rPr>
              <a:t>⚑  </a:t>
            </a:r>
            <a:r>
              <a:rPr sz="1450" b="1" i="0">
                <a:solidFill>
                  <a:srgbClr val="0F1D33"/>
                </a:solidFill>
                <a:latin typeface="Segoe UI"/>
              </a:rPr>
              <a:t>Employer Trust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654296"/>
            <a:ext cx="2834640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A6B87"/>
                </a:solidFill>
                <a:latin typeface="Segoe UI"/>
              </a:rPr>
              <a:t>Postings reveal little about companies — no profiles, culture or verified employee reviews to rely 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53528" y="1161288"/>
            <a:ext cx="4160520" cy="290893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99248" y="1207008"/>
            <a:ext cx="4069080" cy="274320"/>
          </a:xfrm>
          <a:prstGeom prst="roundRect">
            <a:avLst>
              <a:gd name="adj" fmla="val 50000"/>
            </a:avLst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862012" y="1305764"/>
            <a:ext cx="76808" cy="76808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35748" y="1305764"/>
            <a:ext cx="76808" cy="76808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9484" y="1305764"/>
            <a:ext cx="76808" cy="76808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430768" y="1266444"/>
            <a:ext cx="3108960" cy="1554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22208" y="1257300"/>
            <a:ext cx="2971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B87"/>
                </a:solidFill>
                <a:latin typeface="Segoe UI"/>
              </a:rPr>
              <a:t>job-kart.org</a:t>
            </a:r>
          </a:p>
        </p:txBody>
      </p:sp>
      <p:pic>
        <p:nvPicPr>
          <p:cNvPr id="30" name="Picture 29" descr="04-open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1481328"/>
            <a:ext cx="4069080" cy="2543175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7406640" y="4262247"/>
            <a:ext cx="4617720" cy="548640"/>
          </a:xfrm>
          <a:prstGeom prst="roundRect">
            <a:avLst>
              <a:gd name="adj" fmla="val 35000"/>
            </a:avLst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0" y="4262247"/>
            <a:ext cx="4251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18 live roles · 7 companies · 0 status updates after applying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06640" y="5048631"/>
            <a:ext cx="4617720" cy="1572768"/>
          </a:xfrm>
          <a:prstGeom prst="roundRect">
            <a:avLst>
              <a:gd name="adj" fmla="val 8000"/>
            </a:avLst>
          </a:prstGeom>
          <a:solidFill>
            <a:srgbClr val="EAF1FE"/>
          </a:solidFill>
          <a:ln w="12700">
            <a:solidFill>
              <a:srgbClr val="C7D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62672" y="5194935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1D4ED8"/>
                </a:solidFill>
                <a:latin typeface="Segoe UI"/>
              </a:rPr>
              <a:t>WHY IT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62672" y="5505831"/>
            <a:ext cx="4114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E5E"/>
                </a:solidFill>
                <a:latin typeface="Segoe UI"/>
              </a:rPr>
              <a:t>India's hiring market serves millions of job-seekers every year — every missing status update and every manual spreadsheet multiplies wasted effort on both sides of the desk.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465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300">
                <a:solidFill>
                  <a:srgbClr val="0F1D33"/>
                </a:solidFill>
                <a:latin typeface="Segoe UI"/>
              </a:rPr>
              <a:t>JOB</a:t>
            </a:r>
            <a:r>
              <a:rPr sz="1000" b="1" i="0">
                <a:solidFill>
                  <a:srgbClr val="5B9BF5"/>
                </a:solidFill>
                <a:latin typeface="Segoe UI"/>
              </a:rPr>
              <a:t>·</a:t>
            </a:r>
            <a:r>
              <a:rPr sz="1000" b="1" i="0" spc="300">
                <a:solidFill>
                  <a:srgbClr val="0F1D33"/>
                </a:solidFill>
                <a:latin typeface="Segoe UI"/>
              </a:rPr>
              <a:t>KART</a:t>
            </a:r>
            <a:r>
              <a:rPr sz="900" b="0" i="1">
                <a:solidFill>
                  <a:srgbClr val="5A6B87"/>
                </a:solidFill>
                <a:latin typeface="Segoe UI"/>
              </a:rPr>
              <a:t>   |   Empowering Careers, Simplifying Hiring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20095" y="6446520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 spc="100">
                <a:solidFill>
                  <a:srgbClr val="5A6B87"/>
                </a:solidFill>
                <a:latin typeface="Segoe UI"/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63679" y="0"/>
            <a:ext cx="128016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2563EB"/>
                </a:solidFill>
                <a:latin typeface="Segoe UI"/>
              </a:rPr>
              <a:t>02  </a:t>
            </a:r>
            <a:r>
              <a:rPr sz="1200" b="1" i="0" spc="200">
                <a:solidFill>
                  <a:srgbClr val="5A6B87"/>
                </a:solidFill>
                <a:latin typeface="Segoe UI"/>
              </a:rPr>
              <a:t>— 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F1D33"/>
                </a:solidFill>
                <a:latin typeface="Segoe UI"/>
              </a:rPr>
              <a:t>What the project set out to achieve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72768"/>
            <a:ext cx="5504688" cy="1371600"/>
          </a:xfrm>
          <a:prstGeom prst="roundRect">
            <a:avLst>
              <a:gd name="adj" fmla="val 10000"/>
            </a:avLst>
          </a:prstGeom>
          <a:solidFill>
            <a:srgbClr val="F6F8FC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792224"/>
            <a:ext cx="777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563EB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755648"/>
            <a:ext cx="4315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1D33"/>
                </a:solidFill>
                <a:latin typeface="Segoe UI"/>
              </a:rPr>
              <a:t>Unified verified marketplace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139696"/>
            <a:ext cx="431596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A6B87"/>
                </a:solidFill>
                <a:latin typeface="Segoe UI"/>
              </a:rPr>
              <a:t>One trusted platform aggregating verified openings from real companies.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72768"/>
            <a:ext cx="5504688" cy="1371600"/>
          </a:xfrm>
          <a:prstGeom prst="roundRect">
            <a:avLst>
              <a:gd name="adj" fmla="val 10000"/>
            </a:avLst>
          </a:prstGeom>
          <a:solidFill>
            <a:srgbClr val="F6F8FC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1792224"/>
            <a:ext cx="777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5B9BF5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755648"/>
            <a:ext cx="4315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1D33"/>
                </a:solidFill>
                <a:latin typeface="Segoe UI"/>
              </a:rPr>
              <a:t>Transparent application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139696"/>
            <a:ext cx="431596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A6B87"/>
                </a:solidFill>
                <a:latin typeface="Segoe UI"/>
              </a:rPr>
              <a:t>A real-time status pipeline — Applied → Under Review → Selected — for every candidate.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45536"/>
            <a:ext cx="5504688" cy="1371600"/>
          </a:xfrm>
          <a:prstGeom prst="roundRect">
            <a:avLst>
              <a:gd name="adj" fmla="val 10000"/>
            </a:avLst>
          </a:prstGeom>
          <a:solidFill>
            <a:srgbClr val="F6F8FC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364992"/>
            <a:ext cx="777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59E0B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328416"/>
            <a:ext cx="4315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1D33"/>
                </a:solidFill>
                <a:latin typeface="Segoe UI"/>
              </a:rPr>
              <a:t>Efficient hiring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712464"/>
            <a:ext cx="431596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A6B87"/>
                </a:solidFill>
                <a:latin typeface="Segoe UI"/>
              </a:rPr>
              <a:t>Visual pipeline and screening tools that replace manual spreadsheet tracking for recruiters.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145536"/>
            <a:ext cx="5504688" cy="1371600"/>
          </a:xfrm>
          <a:prstGeom prst="roundRect">
            <a:avLst>
              <a:gd name="adj" fmla="val 10000"/>
            </a:avLst>
          </a:prstGeom>
          <a:solidFill>
            <a:srgbClr val="F6F8FC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3364992"/>
            <a:ext cx="777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B981"/>
                </a:solidFill>
                <a:latin typeface="Segoe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328416"/>
            <a:ext cx="4315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1D33"/>
                </a:solidFill>
                <a:latin typeface="Segoe UI"/>
              </a:rPr>
              <a:t>Insightful dashboards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712464"/>
            <a:ext cx="431596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A6B87"/>
                </a:solidFill>
                <a:latin typeface="Segoe UI"/>
              </a:rPr>
              <a:t>Live analytics charts for applications, hiring status and per-job performance.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718304"/>
            <a:ext cx="5504688" cy="1371600"/>
          </a:xfrm>
          <a:prstGeom prst="roundRect">
            <a:avLst>
              <a:gd name="adj" fmla="val 10000"/>
            </a:avLst>
          </a:prstGeom>
          <a:solidFill>
            <a:srgbClr val="F6F8FC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4937760"/>
            <a:ext cx="777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C3AED"/>
                </a:solidFill>
                <a:latin typeface="Segoe U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01184"/>
            <a:ext cx="4315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1D33"/>
                </a:solidFill>
                <a:latin typeface="Segoe UI"/>
              </a:rPr>
              <a:t>Secure role-based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285232"/>
            <a:ext cx="431596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A6B87"/>
                </a:solidFill>
                <a:latin typeface="Segoe UI"/>
              </a:rPr>
              <a:t>JWT authentication with candidate/recruiter separation and hashed credentials.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718304"/>
            <a:ext cx="5504688" cy="1371600"/>
          </a:xfrm>
          <a:prstGeom prst="roundRect">
            <a:avLst>
              <a:gd name="adj" fmla="val 10000"/>
            </a:avLst>
          </a:prstGeom>
          <a:solidFill>
            <a:srgbClr val="F6F8FC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47104" y="4937760"/>
            <a:ext cx="777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749C"/>
                </a:solidFill>
                <a:latin typeface="Segoe U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4901184"/>
            <a:ext cx="4315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1D33"/>
                </a:solidFill>
                <a:latin typeface="Segoe UI"/>
              </a:rPr>
              <a:t>Lightweight responsive UX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5285232"/>
            <a:ext cx="431596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A6B87"/>
                </a:solidFill>
                <a:latin typeface="Segoe UI"/>
              </a:rPr>
              <a:t>Framework-free, mobile-first interface with dark mode and zero build step.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14476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D33"/>
                </a:solidFill>
                <a:latin typeface="Segoe UI"/>
              </a:rPr>
              <a:t>Scope: </a:t>
            </a:r>
            <a:r>
              <a:rPr sz="1100" b="0" i="0">
                <a:solidFill>
                  <a:srgbClr val="5A6B87"/>
                </a:solidFill>
                <a:latin typeface="Segoe UI"/>
              </a:rPr>
              <a:t>full-stack web application — REST API + responsive frontend + cloud database, deployable on Vercel.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20095" y="6446520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 spc="100">
                <a:solidFill>
                  <a:srgbClr val="5A6B87"/>
                </a:solidFill>
                <a:latin typeface="Segoe UI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2563EB"/>
                </a:solidFill>
                <a:latin typeface="Segoe UI"/>
              </a:rPr>
              <a:t>03  </a:t>
            </a:r>
            <a:r>
              <a:rPr sz="1200" b="1" i="0" spc="200">
                <a:solidFill>
                  <a:srgbClr val="5A6B87"/>
                </a:solidFill>
                <a:latin typeface="Segoe UI"/>
              </a:rPr>
              <a:t>—  PROJECT FUNCTIONALITIES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F1D33"/>
                </a:solidFill>
                <a:latin typeface="Segoe UI"/>
              </a:rPr>
              <a:t>Key functionalities — one platform, two journeys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532120" cy="2304288"/>
          </a:xfrm>
          <a:prstGeom prst="roundRect">
            <a:avLst>
              <a:gd name="adj" fmla="val 5500"/>
            </a:avLst>
          </a:prstGeom>
          <a:solidFill>
            <a:srgbClr val="EAF1FE"/>
          </a:solidFill>
          <a:ln w="12700">
            <a:solidFill>
              <a:srgbClr val="C7D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spc="200">
                <a:solidFill>
                  <a:srgbClr val="2563EB"/>
                </a:solidFill>
                <a:latin typeface="Segoe UI"/>
              </a:rPr>
              <a:t>FOR CANDIDATES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47088"/>
            <a:ext cx="5029200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0F1D33"/>
                </a:solidFill>
                <a:latin typeface="Segoe UI"/>
              </a:rPr>
              <a:t>Smart discovery  </a:t>
            </a:r>
            <a:r>
              <a:rPr sz="1050" b="0" i="0">
                <a:solidFill>
                  <a:srgbClr val="5A6B87"/>
                </a:solidFill>
                <a:latin typeface="Segoe UI"/>
              </a:rPr>
              <a:t>— filter by role, salary, location &amp; experience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0F1D33"/>
                </a:solidFill>
                <a:latin typeface="Segoe UI"/>
              </a:rPr>
              <a:t>One-click apply  </a:t>
            </a:r>
            <a:r>
              <a:rPr sz="1050" b="0" i="0">
                <a:solidFill>
                  <a:srgbClr val="5A6B87"/>
                </a:solidFill>
                <a:latin typeface="Segoe UI"/>
              </a:rPr>
              <a:t>— auto-filled profile + resume upload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0F1D33"/>
                </a:solidFill>
                <a:latin typeface="Segoe UI"/>
              </a:rPr>
              <a:t>Live tracker  </a:t>
            </a:r>
            <a:r>
              <a:rPr sz="1050" b="0" i="0">
                <a:solidFill>
                  <a:srgbClr val="5A6B87"/>
                </a:solidFill>
                <a:latin typeface="Segoe UI"/>
              </a:rPr>
              <a:t>— Applied → Under Review → Selected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0F1D33"/>
                </a:solidFill>
                <a:latin typeface="Segoe UI"/>
              </a:rPr>
              <a:t>Saved jobs &amp; compare  </a:t>
            </a:r>
            <a:r>
              <a:rPr sz="1050" b="0" i="0">
                <a:solidFill>
                  <a:srgbClr val="5A6B87"/>
                </a:solidFill>
                <a:latin typeface="Segoe UI"/>
              </a:rPr>
              <a:t>— weigh two offers side-by-side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0F1D33"/>
                </a:solidFill>
                <a:latin typeface="Segoe UI"/>
              </a:rPr>
              <a:t>Profile meter  </a:t>
            </a:r>
            <a:r>
              <a:rPr sz="1050" b="0" i="0">
                <a:solidFill>
                  <a:srgbClr val="5A6B87"/>
                </a:solidFill>
                <a:latin typeface="Segoe UI"/>
              </a:rPr>
              <a:t>— guided setup that boosts hiring odds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532120" cy="2304288"/>
          </a:xfrm>
          <a:prstGeom prst="roundRect">
            <a:avLst>
              <a:gd name="adj" fmla="val 5500"/>
            </a:avLst>
          </a:prstGeom>
          <a:solidFill>
            <a:srgbClr val="FDF3DF"/>
          </a:solidFill>
          <a:ln w="12700">
            <a:solidFill>
              <a:srgbClr val="F3DD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499616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spc="200">
                <a:solidFill>
                  <a:srgbClr val="B47406"/>
                </a:solidFill>
                <a:latin typeface="Segoe UI"/>
              </a:rPr>
              <a:t>FOR RECRUITERS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847088"/>
            <a:ext cx="5029200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>
                <a:solidFill>
                  <a:srgbClr val="F59E0B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0F1D33"/>
                </a:solidFill>
                <a:latin typeface="Segoe UI"/>
              </a:rPr>
              <a:t>Post &amp; manage jobs  </a:t>
            </a:r>
            <a:r>
              <a:rPr sz="1050" b="0" i="0">
                <a:solidFill>
                  <a:srgbClr val="5A6B87"/>
                </a:solidFill>
                <a:latin typeface="Segoe UI"/>
              </a:rPr>
              <a:t>— skills, benefits, deadlines &amp; status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>
                <a:solidFill>
                  <a:srgbClr val="F59E0B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0F1D33"/>
                </a:solidFill>
                <a:latin typeface="Segoe UI"/>
              </a:rPr>
              <a:t>Visual pipeline  </a:t>
            </a:r>
            <a:r>
              <a:rPr sz="1050" b="0" i="0">
                <a:solidFill>
                  <a:srgbClr val="5A6B87"/>
                </a:solidFill>
                <a:latin typeface="Segoe UI"/>
              </a:rPr>
              <a:t>— hiring stages with live counts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>
                <a:solidFill>
                  <a:srgbClr val="F59E0B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0F1D33"/>
                </a:solidFill>
                <a:latin typeface="Segoe UI"/>
              </a:rPr>
              <a:t>Candidate screening  </a:t>
            </a:r>
            <a:r>
              <a:rPr sz="1050" b="0" i="0">
                <a:solidFill>
                  <a:srgbClr val="5A6B87"/>
                </a:solidFill>
                <a:latin typeface="Segoe UI"/>
              </a:rPr>
              <a:t>— search &amp; filter applicants instantly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>
                <a:solidFill>
                  <a:srgbClr val="F59E0B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0F1D33"/>
                </a:solidFill>
                <a:latin typeface="Segoe UI"/>
              </a:rPr>
              <a:t>Company branding  </a:t>
            </a:r>
            <a:r>
              <a:rPr sz="1050" b="0" i="0">
                <a:solidFill>
                  <a:srgbClr val="5A6B87"/>
                </a:solidFill>
                <a:latin typeface="Segoe UI"/>
              </a:rPr>
              <a:t>— mission, gallery, benefits &amp; reviews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9E0B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0F1D33"/>
                </a:solidFill>
                <a:latin typeface="Segoe UI"/>
              </a:rPr>
              <a:t>Live analytics  </a:t>
            </a:r>
            <a:r>
              <a:rPr sz="1050" b="0" i="0">
                <a:solidFill>
                  <a:srgbClr val="5A6B87"/>
                </a:solidFill>
                <a:latin typeface="Segoe UI"/>
              </a:rPr>
              <a:t>— per-job and status charts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904488"/>
            <a:ext cx="5623560" cy="249349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3950208"/>
            <a:ext cx="5532120" cy="274320"/>
          </a:xfrm>
          <a:prstGeom prst="roundRect">
            <a:avLst>
              <a:gd name="adj" fmla="val 50000"/>
            </a:avLst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1404" y="4048964"/>
            <a:ext cx="76808" cy="76808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85140" y="4048964"/>
            <a:ext cx="76808" cy="76808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8876" y="4048964"/>
            <a:ext cx="76808" cy="76808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280160" y="4009644"/>
            <a:ext cx="4572000" cy="1554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000500"/>
            <a:ext cx="4434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B87"/>
                </a:solidFill>
                <a:latin typeface="Segoe UI"/>
              </a:rPr>
              <a:t>job-kart.org</a:t>
            </a:r>
          </a:p>
        </p:txBody>
      </p:sp>
      <p:pic>
        <p:nvPicPr>
          <p:cNvPr id="19" name="Picture 18" descr="s3-candi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24528"/>
            <a:ext cx="5532120" cy="2127738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17920" y="3904488"/>
            <a:ext cx="5623560" cy="249349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63640" y="3950208"/>
            <a:ext cx="5532120" cy="274320"/>
          </a:xfrm>
          <a:prstGeom prst="roundRect">
            <a:avLst>
              <a:gd name="adj" fmla="val 50000"/>
            </a:avLst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26404" y="4048964"/>
            <a:ext cx="76808" cy="76808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00140" y="4048964"/>
            <a:ext cx="76808" cy="76808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73876" y="4048964"/>
            <a:ext cx="76808" cy="76808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95160" y="4009644"/>
            <a:ext cx="4572000" cy="1554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0" y="4000500"/>
            <a:ext cx="4434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B87"/>
                </a:solidFill>
                <a:latin typeface="Segoe UI"/>
              </a:rPr>
              <a:t>job-kart.org</a:t>
            </a:r>
          </a:p>
        </p:txBody>
      </p:sp>
      <p:pic>
        <p:nvPicPr>
          <p:cNvPr id="27" name="Picture 26" descr="s3-recrui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4224528"/>
            <a:ext cx="5532120" cy="212773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48640" y="646199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A6B87"/>
                </a:solidFill>
                <a:latin typeface="Segoe UI"/>
              </a:rPr>
              <a:t>Candidate dashboard — live stats, timeline &amp; interview schedule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646199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A6B87"/>
                </a:solidFill>
                <a:latin typeface="Segoe UI"/>
              </a:rPr>
              <a:t>Recruiter dashboard — pipeline &amp; application 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46520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 spc="100">
                <a:solidFill>
                  <a:srgbClr val="5A6B87"/>
                </a:solidFill>
                <a:latin typeface="Segoe UI"/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63679" y="0"/>
            <a:ext cx="128016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2563EB"/>
                </a:solidFill>
                <a:latin typeface="Segoe UI"/>
              </a:rPr>
              <a:t>04  </a:t>
            </a:r>
            <a:r>
              <a:rPr sz="1200" b="1" i="0" spc="200">
                <a:solidFill>
                  <a:srgbClr val="5A6B87"/>
                </a:solidFill>
                <a:latin typeface="Segoe UI"/>
              </a:rPr>
              <a:t>—  METHODOLOGY /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F1D33"/>
                </a:solidFill>
                <a:latin typeface="Segoe UI"/>
              </a:rPr>
              <a:t>Three-tier architecture, secured by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72768"/>
            <a:ext cx="6537960" cy="9509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72768"/>
            <a:ext cx="91440" cy="95097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682496"/>
            <a:ext cx="6035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spc="200">
                <a:solidFill>
                  <a:srgbClr val="2563EB"/>
                </a:solidFill>
                <a:latin typeface="Segoe U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011680"/>
            <a:ext cx="6080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A6B87"/>
                </a:solidFill>
                <a:latin typeface="Segoe UI"/>
              </a:rPr>
              <a:t>HTML5 · CSS3 · Vanilla JavaScript · Chart.js · Font Awesome 6 · DM Sans · Dark Mode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6537960" cy="9509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743200"/>
            <a:ext cx="91440" cy="950976"/>
          </a:xfrm>
          <a:prstGeom prst="roundRect">
            <a:avLst>
              <a:gd name="adj" fmla="val 50000"/>
            </a:avLst>
          </a:prstGeom>
          <a:solidFill>
            <a:srgbClr val="0E7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852928"/>
            <a:ext cx="6035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spc="200">
                <a:solidFill>
                  <a:srgbClr val="0E749C"/>
                </a:solidFill>
                <a:latin typeface="Segoe UI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182112"/>
            <a:ext cx="6080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A6B87"/>
                </a:solidFill>
                <a:latin typeface="Segoe UI"/>
              </a:rPr>
              <a:t>Node.js · Express.js 5 · JWT · bcryptjs · express-rate-limit · dotenv · Nodemon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13632"/>
            <a:ext cx="6537960" cy="9509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3913632"/>
            <a:ext cx="91440" cy="95097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023360"/>
            <a:ext cx="6035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spc="200">
                <a:solidFill>
                  <a:srgbClr val="10B981"/>
                </a:solidFill>
                <a:latin typeface="Segoe UI"/>
              </a:rP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352544"/>
            <a:ext cx="6080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A6B87"/>
                </a:solidFill>
                <a:latin typeface="Segoe UI"/>
              </a:rPr>
              <a:t>MongoDB Atlas · Mongoose ODM · 6 collections · aggregation pipelines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85232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0F1D33"/>
                </a:solidFill>
                <a:latin typeface="Segoe UI"/>
              </a:rPr>
              <a:t>METHODOLOGY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31720" y="5239512"/>
            <a:ext cx="1765623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i="0">
                <a:solidFill>
                  <a:srgbClr val="2563EB"/>
                </a:solidFill>
                <a:latin typeface="Segoe UI"/>
              </a:rPr>
              <a:t>Requirement Analysis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216215" y="5376672"/>
            <a:ext cx="146304" cy="36576"/>
          </a:xfrm>
          <a:prstGeom prst="rightArrow">
            <a:avLst>
              <a:gd name="adj1" fmla="val 62000"/>
              <a:gd name="adj2" fmla="val 55000"/>
            </a:avLst>
          </a:prstGeom>
          <a:solidFill>
            <a:srgbClr val="DD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25359" y="5239512"/>
            <a:ext cx="122030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i="0">
                <a:solidFill>
                  <a:srgbClr val="7C3AED"/>
                </a:solidFill>
                <a:latin typeface="Segoe UI"/>
              </a:rPr>
              <a:t>UI/UX Design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564539" y="5376672"/>
            <a:ext cx="146304" cy="36576"/>
          </a:xfrm>
          <a:prstGeom prst="rightArrow">
            <a:avLst>
              <a:gd name="adj1" fmla="val 62000"/>
              <a:gd name="adj2" fmla="val 55000"/>
            </a:avLst>
          </a:prstGeom>
          <a:solidFill>
            <a:srgbClr val="DD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573683" y="5239512"/>
            <a:ext cx="1424801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i="0">
                <a:solidFill>
                  <a:srgbClr val="0E749C"/>
                </a:solidFill>
                <a:latin typeface="Segoe UI"/>
              </a:rPr>
              <a:t>API Development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117356" y="5376672"/>
            <a:ext cx="146304" cy="36576"/>
          </a:xfrm>
          <a:prstGeom prst="rightArrow">
            <a:avLst>
              <a:gd name="adj1" fmla="val 62000"/>
              <a:gd name="adj2" fmla="val 55000"/>
            </a:avLst>
          </a:prstGeom>
          <a:solidFill>
            <a:srgbClr val="DD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126500" y="5239512"/>
            <a:ext cx="1833787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i="0">
                <a:solidFill>
                  <a:srgbClr val="F59E0B"/>
                </a:solidFill>
                <a:latin typeface="Segoe UI"/>
              </a:rPr>
              <a:t>Integration &amp; Testing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079159" y="5376672"/>
            <a:ext cx="146304" cy="36576"/>
          </a:xfrm>
          <a:prstGeom prst="rightArrow">
            <a:avLst>
              <a:gd name="adj1" fmla="val 62000"/>
              <a:gd name="adj2" fmla="val 55000"/>
            </a:avLst>
          </a:prstGeom>
          <a:solidFill>
            <a:srgbClr val="DD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88303" y="5239512"/>
            <a:ext cx="1083979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i="0">
                <a:solidFill>
                  <a:srgbClr val="10B981"/>
                </a:solidFill>
                <a:latin typeface="Segoe UI"/>
              </a:rPr>
              <a:t>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70448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0F1D33"/>
                </a:solidFill>
                <a:latin typeface="Segoe UI"/>
              </a:rPr>
              <a:t>SECURITY LAYER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31720" y="5824728"/>
            <a:ext cx="1356637" cy="310896"/>
          </a:xfrm>
          <a:prstGeom prst="roundRect">
            <a:avLst>
              <a:gd name="adj" fmla="val 5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i="0">
                <a:solidFill>
                  <a:srgbClr val="1D4ED8"/>
                </a:solidFill>
                <a:latin typeface="Segoe UI"/>
              </a:rPr>
              <a:t>bcrypt hashing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16373" y="5824728"/>
            <a:ext cx="1083979" cy="310896"/>
          </a:xfrm>
          <a:prstGeom prst="roundRect">
            <a:avLst>
              <a:gd name="adj" fmla="val 5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i="0">
                <a:solidFill>
                  <a:srgbClr val="1D4ED8"/>
                </a:solidFill>
                <a:latin typeface="Segoe UI"/>
              </a:rPr>
              <a:t>JWT tokens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8368" y="5824728"/>
            <a:ext cx="1561130" cy="310896"/>
          </a:xfrm>
          <a:prstGeom prst="roundRect">
            <a:avLst>
              <a:gd name="adj" fmla="val 5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i="0">
                <a:solidFill>
                  <a:srgbClr val="1D4ED8"/>
                </a:solidFill>
                <a:latin typeface="Segoe UI"/>
              </a:rPr>
              <a:t>role-based access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17514" y="5824728"/>
            <a:ext cx="1288472" cy="310896"/>
          </a:xfrm>
          <a:prstGeom prst="roundRect">
            <a:avLst>
              <a:gd name="adj" fmla="val 5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i="0">
                <a:solidFill>
                  <a:srgbClr val="1D4ED8"/>
                </a:solidFill>
                <a:latin typeface="Segoe UI"/>
              </a:rPr>
              <a:t>XSS sanitizer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4002" y="5824728"/>
            <a:ext cx="1288472" cy="310896"/>
          </a:xfrm>
          <a:prstGeom prst="roundRect">
            <a:avLst>
              <a:gd name="adj" fmla="val 5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i="0">
                <a:solidFill>
                  <a:srgbClr val="1D4ED8"/>
                </a:solidFill>
                <a:latin typeface="Segoe UI"/>
              </a:rPr>
              <a:t>rate limiting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932688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0F1D33"/>
                </a:solidFill>
                <a:latin typeface="Segoe UI"/>
              </a:rPr>
              <a:t>REQUEST FLOW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35240" y="1325880"/>
            <a:ext cx="3977639" cy="914400"/>
          </a:xfrm>
          <a:prstGeom prst="roundRect">
            <a:avLst>
              <a:gd name="adj" fmla="val 14000"/>
            </a:avLst>
          </a:prstGeom>
          <a:solidFill>
            <a:srgbClr val="11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09560" y="1444752"/>
            <a:ext cx="3428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</a:rPr>
              <a:t>Browser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09560" y="1783080"/>
            <a:ext cx="3428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7E4FF"/>
                </a:solidFill>
                <a:latin typeface="Segoe UI"/>
              </a:rPr>
              <a:t>HTML · CSS · JS · fetch API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9496043" y="2417674"/>
            <a:ext cx="256032" cy="47548"/>
          </a:xfrm>
          <a:prstGeom prst="rightArrow">
            <a:avLst>
              <a:gd name="adj1" fmla="val 62000"/>
              <a:gd name="adj2" fmla="val 55000"/>
            </a:avLst>
          </a:prstGeom>
          <a:solidFill>
            <a:srgbClr val="5B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635240" y="2697480"/>
            <a:ext cx="3977639" cy="914400"/>
          </a:xfrm>
          <a:prstGeom prst="roundRect">
            <a:avLst>
              <a:gd name="adj" fmla="val 14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09560" y="2816352"/>
            <a:ext cx="3428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</a:rPr>
              <a:t>Express.js 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09560" y="3154680"/>
            <a:ext cx="3428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7E4FF"/>
                </a:solidFill>
                <a:latin typeface="Segoe UI"/>
              </a:rPr>
              <a:t>27 REST endpoints · middleware chain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9496043" y="3789274"/>
            <a:ext cx="256032" cy="47548"/>
          </a:xfrm>
          <a:prstGeom prst="rightArrow">
            <a:avLst>
              <a:gd name="adj1" fmla="val 62000"/>
              <a:gd name="adj2" fmla="val 55000"/>
            </a:avLst>
          </a:prstGeom>
          <a:solidFill>
            <a:srgbClr val="5B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635240" y="4069080"/>
            <a:ext cx="3977639" cy="914400"/>
          </a:xfrm>
          <a:prstGeom prst="roundRect">
            <a:avLst>
              <a:gd name="adj" fmla="val 14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09560" y="4187952"/>
            <a:ext cx="3428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</a:rPr>
              <a:t>MongoDB Atlas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9560" y="4526280"/>
            <a:ext cx="3428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7F2E4"/>
                </a:solidFill>
                <a:latin typeface="Segoe UI"/>
              </a:rPr>
              <a:t>Mongoose models · aggregation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5440680"/>
            <a:ext cx="4160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1D33"/>
                </a:solidFill>
                <a:latin typeface="Segoe UI"/>
              </a:rPr>
              <a:t>Auth flow: </a:t>
            </a:r>
            <a:r>
              <a:rPr sz="1050" b="0" i="0">
                <a:solidFill>
                  <a:srgbClr val="5A6B87"/>
                </a:solidFill>
                <a:latin typeface="Segoe UI"/>
              </a:rPr>
              <a:t>register / login → bcrypt verify → signed JWT → protected routes with role-gated access for candidates &amp; recruiters.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20095" y="6446520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 spc="100">
                <a:solidFill>
                  <a:srgbClr val="5A6B87"/>
                </a:solidFill>
                <a:latin typeface="Segoe UI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F59E0B"/>
                </a:solidFill>
                <a:latin typeface="Segoe UI"/>
              </a:rPr>
              <a:t>05  </a:t>
            </a:r>
            <a:r>
              <a:rPr sz="1200" b="1" i="0" spc="200">
                <a:solidFill>
                  <a:srgbClr val="5A6B87"/>
                </a:solidFill>
                <a:latin typeface="Segoe UI"/>
              </a:rPr>
              <a:t>— 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F1D33"/>
                </a:solidFill>
                <a:latin typeface="Segoe UI"/>
              </a:rPr>
              <a:t>Outputs achieved — a working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2487168" cy="1207008"/>
          </a:xfrm>
          <a:prstGeom prst="roundRect">
            <a:avLst>
              <a:gd name="adj" fmla="val 9000"/>
            </a:avLst>
          </a:prstGeom>
          <a:solidFill>
            <a:srgbClr val="F6F8FC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2487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563EB"/>
                </a:solidFill>
                <a:latin typeface="Segoe UI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24871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A6B87"/>
                </a:solidFill>
                <a:latin typeface="Segoe UI"/>
              </a:rPr>
              <a:t>REST endpoints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55264" y="1463040"/>
            <a:ext cx="2487168" cy="1207008"/>
          </a:xfrm>
          <a:prstGeom prst="roundRect">
            <a:avLst>
              <a:gd name="adj" fmla="val 9000"/>
            </a:avLst>
          </a:prstGeom>
          <a:solidFill>
            <a:srgbClr val="F6F8FC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55264" y="1572768"/>
            <a:ext cx="2487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0B981"/>
                </a:solidFill>
                <a:latin typeface="Segoe U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55264" y="2212848"/>
            <a:ext cx="24871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A6B87"/>
                </a:solidFill>
                <a:latin typeface="Segoe UI"/>
              </a:rPr>
              <a:t>data collections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61888" y="1463040"/>
            <a:ext cx="2487168" cy="1207008"/>
          </a:xfrm>
          <a:prstGeom prst="roundRect">
            <a:avLst>
              <a:gd name="adj" fmla="val 9000"/>
            </a:avLst>
          </a:prstGeom>
          <a:solidFill>
            <a:srgbClr val="F6F8FC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61888" y="1572768"/>
            <a:ext cx="2487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E749C"/>
                </a:solidFill>
                <a:latin typeface="Segoe UI"/>
              </a:rPr>
              <a:t>13.8k+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2212848"/>
            <a:ext cx="24871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A6B87"/>
                </a:solidFill>
                <a:latin typeface="Segoe UI"/>
              </a:rPr>
              <a:t>lines of 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68512" y="1463040"/>
            <a:ext cx="2487168" cy="1207008"/>
          </a:xfrm>
          <a:prstGeom prst="roundRect">
            <a:avLst>
              <a:gd name="adj" fmla="val 9000"/>
            </a:avLst>
          </a:prstGeom>
          <a:solidFill>
            <a:srgbClr val="F6F8FC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68512" y="1572768"/>
            <a:ext cx="2487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9E0B"/>
                </a:solidFill>
                <a:latin typeface="Segoe UI"/>
              </a:rPr>
              <a:t>10+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8512" y="2212848"/>
            <a:ext cx="24871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A6B87"/>
                </a:solidFill>
                <a:latin typeface="Segoe UI"/>
              </a:rPr>
              <a:t>responsive pages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99923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0F1D33"/>
                </a:solidFill>
                <a:latin typeface="Segoe UI"/>
              </a:rPr>
              <a:t>DEMONSTRATED OUTPUTS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364992"/>
            <a:ext cx="56235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0F1D33"/>
                </a:solidFill>
                <a:latin typeface="Segoe UI"/>
              </a:rPr>
              <a:t>End-to-end hiring loop  </a:t>
            </a:r>
            <a:r>
              <a:rPr sz="1050" b="0" i="0">
                <a:solidFill>
                  <a:srgbClr val="5A6B87"/>
                </a:solidFill>
                <a:latin typeface="Segoe UI"/>
              </a:rPr>
              <a:t>— post, apply, track, shortlist, hire in one platform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0F1D33"/>
                </a:solidFill>
                <a:latin typeface="Segoe UI"/>
              </a:rPr>
              <a:t>Rich company pages  </a:t>
            </a:r>
            <a:r>
              <a:rPr sz="1050" b="0" i="0">
                <a:solidFill>
                  <a:srgbClr val="5A6B87"/>
                </a:solidFill>
                <a:latin typeface="Segoe UI"/>
              </a:rPr>
              <a:t>— 7 seeded companies, culture pages &amp; 12 verified reviews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0F1D33"/>
                </a:solidFill>
                <a:latin typeface="Segoe UI"/>
              </a:rPr>
              <a:t>Analytics dashboards  </a:t>
            </a:r>
            <a:r>
              <a:rPr sz="1050" b="0" i="0">
                <a:solidFill>
                  <a:srgbClr val="5A6B87"/>
                </a:solidFill>
                <a:latin typeface="Segoe UI"/>
              </a:rPr>
              <a:t>— Chart.js visuals for both roles via aggregation pipelines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0F1D33"/>
                </a:solidFill>
                <a:latin typeface="Segoe UI"/>
              </a:rPr>
              <a:t>Secure demo environment  </a:t>
            </a:r>
            <a:r>
              <a:rPr sz="1050" b="0" i="0">
                <a:solidFill>
                  <a:srgbClr val="5A6B87"/>
                </a:solidFill>
                <a:latin typeface="Segoe UI"/>
              </a:rPr>
              <a:t>— JWT sessions, demo users &amp; full hiring-pipeline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2990088"/>
            <a:ext cx="5166360" cy="23176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37960" y="3035808"/>
            <a:ext cx="5074920" cy="274320"/>
          </a:xfrm>
          <a:prstGeom prst="roundRect">
            <a:avLst>
              <a:gd name="adj" fmla="val 50000"/>
            </a:avLst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700724" y="3134564"/>
            <a:ext cx="76808" cy="76808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74460" y="3134564"/>
            <a:ext cx="76808" cy="76808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048196" y="3134564"/>
            <a:ext cx="76808" cy="76808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095244"/>
            <a:ext cx="4114800" cy="1554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60920" y="3086100"/>
            <a:ext cx="3977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B87"/>
                </a:solidFill>
                <a:latin typeface="Segoe UI"/>
              </a:rPr>
              <a:t>job-kart.org</a:t>
            </a:r>
          </a:p>
        </p:txBody>
      </p:sp>
      <p:pic>
        <p:nvPicPr>
          <p:cNvPr id="27" name="Picture 26" descr="s6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310128"/>
            <a:ext cx="5074920" cy="195189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537960" y="537174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A6B87"/>
                </a:solidFill>
                <a:latin typeface="Segoe UI"/>
              </a:rPr>
              <a:t>Homepage — animated stats, featured roles &amp; company strip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26480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0F1D33"/>
                </a:solidFill>
                <a:latin typeface="Segoe UI"/>
              </a:rPr>
              <a:t>ALSO VERIFIED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28800" y="6071616"/>
            <a:ext cx="2242773" cy="310896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i="0">
                <a:solidFill>
                  <a:srgbClr val="2563EB"/>
                </a:solidFill>
                <a:latin typeface="Segoe UI"/>
              </a:rPr>
              <a:t>Candidate &amp; recruiter roles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99589" y="6071616"/>
            <a:ext cx="1697458" cy="310896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i="0">
                <a:solidFill>
                  <a:srgbClr val="10B981"/>
                </a:solidFill>
                <a:latin typeface="Segoe UI"/>
              </a:rPr>
              <a:t>Mobile-first layout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25063" y="6071616"/>
            <a:ext cx="1970116" cy="310896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 i="0">
                <a:solidFill>
                  <a:srgbClr val="0E749C"/>
                </a:solidFill>
                <a:latin typeface="Segoe UI"/>
              </a:rPr>
              <a:t>Zero framework overhead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20095" y="6446520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 spc="100">
                <a:solidFill>
                  <a:srgbClr val="5A6B87"/>
                </a:solidFill>
                <a:latin typeface="Segoe UI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99855" y="-2743200"/>
            <a:ext cx="4389120" cy="4389120"/>
          </a:xfrm>
          <a:prstGeom prst="ellipse">
            <a:avLst/>
          </a:prstGeom>
          <a:solidFill>
            <a:srgbClr val="16356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651760" y="5394960"/>
            <a:ext cx="3840480" cy="3840480"/>
          </a:xfrm>
          <a:prstGeom prst="ellipse">
            <a:avLst/>
          </a:prstGeom>
          <a:solidFill>
            <a:srgbClr val="2563EB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2563EB"/>
                </a:solidFill>
                <a:latin typeface="Segoe UI"/>
              </a:rPr>
              <a:t>06  </a:t>
            </a:r>
            <a:r>
              <a:rPr sz="1200" b="1" i="0" spc="200">
                <a:solidFill>
                  <a:srgbClr val="5B9BF5"/>
                </a:solidFill>
                <a:latin typeface="Segoe UI"/>
              </a:rPr>
              <a:t>—  CONCLUSION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</a:rPr>
              <a:t>Where the project stands — and where it goes next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81328"/>
            <a:ext cx="5532120" cy="3794760"/>
          </a:xfrm>
          <a:prstGeom prst="roundRect">
            <a:avLst>
              <a:gd name="adj" fmla="val 5500"/>
            </a:avLst>
          </a:prstGeom>
          <a:solidFill>
            <a:srgbClr val="112B55"/>
          </a:solidFill>
          <a:ln w="12700">
            <a:solidFill>
              <a:srgbClr val="2E4C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spc="200">
                <a:solidFill>
                  <a:srgbClr val="5B9BF5"/>
                </a:solidFill>
                <a:latin typeface="Segoe UI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48256"/>
            <a:ext cx="502920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FFFFFF"/>
                </a:solidFill>
                <a:latin typeface="Segoe UI"/>
              </a:rPr>
              <a:t>Fully functional platform  </a:t>
            </a:r>
            <a:r>
              <a:rPr sz="1050" b="0" i="0">
                <a:solidFill>
                  <a:srgbClr val="5B9BF5"/>
                </a:solidFill>
                <a:latin typeface="Segoe UI"/>
              </a:rPr>
              <a:t>— every core flow works end-to-end on live data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FFFFFF"/>
                </a:solidFill>
                <a:latin typeface="Segoe UI"/>
              </a:rPr>
              <a:t>Both journeys served  </a:t>
            </a:r>
            <a:r>
              <a:rPr sz="1050" b="0" i="0">
                <a:solidFill>
                  <a:srgbClr val="5B9BF5"/>
                </a:solidFill>
                <a:latin typeface="Segoe UI"/>
              </a:rPr>
              <a:t>— candidates track applications; recruiters manage a visual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FFFFFF"/>
                </a:solidFill>
                <a:latin typeface="Segoe UI"/>
              </a:rPr>
              <a:t>Security-first stack  </a:t>
            </a:r>
            <a:r>
              <a:rPr sz="1050" b="0" i="0">
                <a:solidFill>
                  <a:srgbClr val="5B9BF5"/>
                </a:solidFill>
                <a:latin typeface="Segoe UI"/>
              </a:rPr>
              <a:t>— JWT auth, bcrypt hashing, XSS sanitization &amp; rate limiting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FFFFFF"/>
                </a:solidFill>
                <a:latin typeface="Segoe UI"/>
              </a:rPr>
              <a:t>Lean by design  </a:t>
            </a:r>
            <a:r>
              <a:rPr sz="1050" b="0" i="0">
                <a:solidFill>
                  <a:srgbClr val="5B9BF5"/>
                </a:solidFill>
                <a:latin typeface="Segoe UI"/>
              </a:rPr>
              <a:t>— framework-free frontend: zero build step, instant deploys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FFFFFF"/>
                </a:solidFill>
                <a:latin typeface="Segoe UI"/>
              </a:rPr>
              <a:t>Deploy-ready  </a:t>
            </a:r>
            <a:r>
              <a:rPr sz="1050" b="0" i="0">
                <a:solidFill>
                  <a:srgbClr val="5B9BF5"/>
                </a:solidFill>
                <a:latin typeface="Segoe UI"/>
              </a:rPr>
              <a:t>— cloud database + static frontend, live on Vercel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81328"/>
            <a:ext cx="5532120" cy="3794760"/>
          </a:xfrm>
          <a:prstGeom prst="roundRect">
            <a:avLst>
              <a:gd name="adj" fmla="val 5500"/>
            </a:avLst>
          </a:prstGeom>
          <a:solidFill>
            <a:srgbClr val="163566"/>
          </a:solidFill>
          <a:ln w="12700">
            <a:solidFill>
              <a:srgbClr val="3A5B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64208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spc="200">
                <a:solidFill>
                  <a:srgbClr val="F59E0B"/>
                </a:solidFill>
                <a:latin typeface="Segoe UI"/>
              </a:rPr>
              <a:t>FUTURE ENHANCEMENTS</a:t>
            </a:r>
          </a:p>
        </p:txBody>
      </p:sp>
      <p:sp>
        <p:nvSpPr>
          <p:cNvPr id="12" name="Oval 11"/>
          <p:cNvSpPr/>
          <p:nvPr/>
        </p:nvSpPr>
        <p:spPr>
          <a:xfrm>
            <a:off x="6574536" y="2112264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76872" y="2103120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Email &amp; push alerts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6872" y="2340864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DC2E4"/>
                </a:solidFill>
                <a:latin typeface="Segoe UI"/>
              </a:rPr>
              <a:t>application status updates and new-job notifications</a:t>
            </a:r>
          </a:p>
        </p:txBody>
      </p:sp>
      <p:sp>
        <p:nvSpPr>
          <p:cNvPr id="15" name="Oval 14"/>
          <p:cNvSpPr/>
          <p:nvPr/>
        </p:nvSpPr>
        <p:spPr>
          <a:xfrm>
            <a:off x="6574536" y="2715768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76872" y="2706624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AI job matching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6872" y="2944368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DC2E4"/>
                </a:solidFill>
                <a:latin typeface="Segoe UI"/>
              </a:rPr>
              <a:t>resume-based recommendation of best-fit roles</a:t>
            </a:r>
          </a:p>
        </p:txBody>
      </p:sp>
      <p:sp>
        <p:nvSpPr>
          <p:cNvPr id="18" name="Oval 17"/>
          <p:cNvSpPr/>
          <p:nvPr/>
        </p:nvSpPr>
        <p:spPr>
          <a:xfrm>
            <a:off x="6574536" y="3319272"/>
            <a:ext cx="292608" cy="292608"/>
          </a:xfrm>
          <a:prstGeom prst="ellipse">
            <a:avLst/>
          </a:prstGeom>
          <a:solidFill>
            <a:srgbClr val="0E7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76872" y="3310128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Resume parsing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3547872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DC2E4"/>
                </a:solidFill>
                <a:latin typeface="Segoe UI"/>
              </a:rPr>
              <a:t>auto-fill profiles from uploaded CVs</a:t>
            </a:r>
          </a:p>
        </p:txBody>
      </p:sp>
      <p:sp>
        <p:nvSpPr>
          <p:cNvPr id="21" name="Oval 20"/>
          <p:cNvSpPr/>
          <p:nvPr/>
        </p:nvSpPr>
        <p:spPr>
          <a:xfrm>
            <a:off x="6574536" y="3922776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76872" y="3913632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Admin 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6872" y="4151376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DC2E4"/>
                </a:solidFill>
                <a:latin typeface="Segoe UI"/>
              </a:rPr>
              <a:t>company and posting approval workflow</a:t>
            </a:r>
          </a:p>
        </p:txBody>
      </p:sp>
      <p:sp>
        <p:nvSpPr>
          <p:cNvPr id="24" name="Oval 23"/>
          <p:cNvSpPr/>
          <p:nvPr/>
        </p:nvSpPr>
        <p:spPr>
          <a:xfrm>
            <a:off x="6574536" y="452628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76872" y="4517136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PWA mobile 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76872" y="4754880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DC2E4"/>
                </a:solidFill>
                <a:latin typeface="Segoe UI"/>
              </a:rPr>
              <a:t>installable experience with offline 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715000"/>
            <a:ext cx="94484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Thank you</a:t>
            </a:r>
            <a:r>
              <a:rPr sz="1400" b="0" i="1">
                <a:solidFill>
                  <a:srgbClr val="9FB4D8"/>
                </a:solidFill>
                <a:latin typeface="Segoe UI"/>
              </a:rPr>
              <a:t>  ·  Questions welcome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300">
                <a:solidFill>
                  <a:srgbClr val="FFFFFF"/>
                </a:solidFill>
                <a:latin typeface="Segoe UI"/>
              </a:rPr>
              <a:t>JOB</a:t>
            </a:r>
            <a:r>
              <a:rPr sz="1000" b="1" i="0">
                <a:solidFill>
                  <a:srgbClr val="5B9BF5"/>
                </a:solidFill>
                <a:latin typeface="Segoe UI"/>
              </a:rPr>
              <a:t>·</a:t>
            </a:r>
            <a:r>
              <a:rPr sz="1000" b="1" i="0" spc="300">
                <a:solidFill>
                  <a:srgbClr val="FFFFFF"/>
                </a:solidFill>
                <a:latin typeface="Segoe UI"/>
              </a:rPr>
              <a:t>KART</a:t>
            </a:r>
            <a:r>
              <a:rPr sz="900" b="0" i="1">
                <a:solidFill>
                  <a:srgbClr val="5B9BF5"/>
                </a:solidFill>
                <a:latin typeface="Segoe UI"/>
              </a:rPr>
              <a:t>   |   Empowering Careers, Simplifying Hiring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446520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 spc="100">
                <a:solidFill>
                  <a:srgbClr val="5B9BF5"/>
                </a:solidFill>
                <a:latin typeface="Segoe UI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